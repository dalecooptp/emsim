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Relationship Id="rId45" Type="http://schemas.openxmlformats.org/officeDocument/2006/relationships/slide" Target="slides/slide6.xml"/><Relationship Id="rId46" Type="http://schemas.openxmlformats.org/officeDocument/2006/relationships/slide" Target="slides/slide7.xml"/><Relationship Id="rId47" Type="http://schemas.openxmlformats.org/officeDocument/2006/relationships/slide" Target="slides/slide8.xml"/><Relationship Id="rId48" Type="http://schemas.openxmlformats.org/officeDocument/2006/relationships/slide" Target="slides/slide9.xml"/><Relationship Id="rId49" Type="http://schemas.openxmlformats.org/officeDocument/2006/relationships/slide" Target="slides/slide10.xml"/><Relationship Id="rId50" Type="http://schemas.openxmlformats.org/officeDocument/2006/relationships/slide" Target="slides/slide11.xml"/><Relationship Id="rId51" Type="http://schemas.openxmlformats.org/officeDocument/2006/relationships/slide" Target="slides/slide12.xml"/><Relationship Id="rId52" Type="http://schemas.openxmlformats.org/officeDocument/2006/relationships/slide" Target="slides/slide13.xml"/><Relationship Id="rId53" Type="http://schemas.openxmlformats.org/officeDocument/2006/relationships/slide" Target="slides/slide14.xml"/><Relationship Id="rId54" Type="http://schemas.openxmlformats.org/officeDocument/2006/relationships/slide" Target="slides/slide15.xml"/><Relationship Id="rId55" Type="http://schemas.openxmlformats.org/officeDocument/2006/relationships/slide" Target="slides/slide16.xml"/><Relationship Id="rId56" Type="http://schemas.openxmlformats.org/officeDocument/2006/relationships/slide" Target="slides/slide17.xml"/><Relationship Id="rId57" Type="http://schemas.openxmlformats.org/officeDocument/2006/relationships/slide" Target="slides/slide18.xml"/><Relationship Id="rId58" Type="http://schemas.openxmlformats.org/officeDocument/2006/relationships/slide" Target="slides/slide19.xml"/><Relationship Id="rId59" Type="http://schemas.openxmlformats.org/officeDocument/2006/relationships/slide" Target="slides/slide20.xml"/><Relationship Id="rId60" Type="http://schemas.openxmlformats.org/officeDocument/2006/relationships/slide" Target="slides/slide21.xml"/><Relationship Id="rId61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083762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тезис: заказчик полностью владеет сервисом. Модель T-lite-it-2.1 — открытая модель Т-Технологий (Т-Банк), лицензия Apache 2.0, оптимизирована для русского языка. Интернет нужен один раз — чтобы установить систему и скачать веса моделей. Можно подключить GPU или другую OpenAI-совместимую модель без изменения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EmSim — локальный веб-тренажёр. Интерфейс повторяет АРМ-112 по инструкциям заказчика.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Сейчас УМЦ ГО ЧС готовит диспетчеров по бумажным билетам: без интерфейса АРМ-112, без контроля нормативов и без объективной оценки.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16.09.2026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16.09.2026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16.09.2026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16.09.2026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16.09.2026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16.09.2026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16.09.2026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16.09.2026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16.09.2026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16.09.2026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16.09.2026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16.09.2026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16.09.2026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16.09.2026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16.09.2026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16.09.2026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16.09.2026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16.09.2026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16.09.2026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jpg"/><Relationship Id="rId3" Type="http://schemas.openxmlformats.org/officeDocument/2006/relationships/image" Target="../media/image30.png"/><Relationship Id="rId4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jpg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jpg"/><Relationship Id="rId3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.jpg"/><Relationship Id="rId3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Relationship Id="rId3" Type="http://schemas.openxmlformats.org/officeDocument/2006/relationships/image" Target="../media/image1.pn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jpg"/><Relationship Id="rId3" Type="http://schemas.openxmlformats.org/officeDocument/2006/relationships/image" Target="../media/image30.png"/><Relationship Id="rId4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9.jpg"/><Relationship Id="rId3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3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endParaRPr lang="ru-RU" sz="4800"/>
          </a:p>
        </p:txBody>
      </p:sp>
      <p:sp>
        <p:nvSpPr>
          <p:cNvPr id="1636791008" name="Рисунок 3"/>
          <p:cNvSpPr>
            <a:spLocks noGrp="1"/>
          </p:cNvSpPr>
          <p:nvPr>
            <p:ph type="pic" sz="quarter" idx="11"/>
          </p:nvPr>
        </p:nvSpPr>
        <p:spPr bwMode="auto">
          <a:xfrm>
            <a:off x="305186" y="329801"/>
            <a:ext cx="5193299" cy="1082589"/>
          </a:xfrm>
        </p:spPr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endParaRPr lang="ru-RU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1609484257" name="Рисунок 1" descr="shot.jp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14" b="14"/>
          <a:stretch>
            <a:fillRect/>
          </a:stretch>
        </p:blipFill>
        <p:spPr/>
      </p:pic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Российская LLM T-lite работает локально на сервере учебного центра без GPU: ИИ-заявитель и ИИ-судья полностью офлайн, данные курсантов не покидают периметр.</a:t>
            </a:r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200">
                <a:solidFill>
                  <a:schemeClr val="tx1"/>
                </a:solidFill>
              </a:rPr>
              <a:t xml:space="preserve">Капитан: </a:t>
            </a:r>
            <a:r>
              <a:rPr lang="ru-RU" sz="1200">
                <a:solidFill>
                  <a:schemeClr val="tx1"/>
                </a:solidFill>
              </a:rPr>
              <a:t>Гришин Матвей Максимович, ⟨специальность⟩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200">
                <a:solidFill>
                  <a:schemeClr val="tx1"/>
                </a:solidFill>
              </a:rPr>
              <a:t xml:space="preserve">Кол-во участников: </a:t>
            </a:r>
            <a:r>
              <a:rPr lang="ru-RU" sz="1200">
                <a:solidFill>
                  <a:schemeClr val="tx1"/>
                </a:solidFill>
              </a:rPr>
              <a:t>2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200">
                <a:solidFill>
                  <a:schemeClr val="tx1"/>
                </a:solidFill>
              </a:rPr>
              <a:t xml:space="preserve"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sz="1200">
                <a:solidFill>
                  <a:schemeClr val="tx1"/>
                </a:solidFill>
              </a:rPr>
              <a:t>познакомились в университете: Матвей — ментор по АиСД и дискретной математике, Александр — практик, с которым он работал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sz="1200">
                <a:solidFill>
                  <a:schemeClr val="tx1"/>
                </a:solidFill>
              </a:rPr>
              <a:t>учимся в ⟨университет⟩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sz="1200">
                <a:solidFill>
                  <a:schemeClr val="tx1"/>
                </a:solidFill>
              </a:rPr>
              <a:t xml:space="preserve">Город и регион: </a:t>
            </a:r>
            <a:r>
              <a:rPr lang="ru-RU" sz="1200">
                <a:solidFill>
                  <a:schemeClr val="tx1"/>
                </a:solidFill>
              </a:rPr>
              <a:t>⟨город, регион⟩</a:t>
            </a:r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Montserrat"/>
              </a:rPr>
              <a:t>EmSim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Веб-тренажёр в интерфейсе АРМ-112 для операторов 112 и диспетчеров ДДС: реалистичные вызовы, ИИ-заявитель, мониторинг занятия и автооценка каждого прохождения.</a:t>
            </a:r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Разработчик: frontend, сценарии, тестирование</a:t>
            </a: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⟨ник в Telegram⟩</a:t>
            </a: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⟨телефон⟩</a:t>
            </a: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⟨университет⟩</a:t>
            </a: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Александр Лазарев</a:t>
            </a:r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1172799835" name="Рисунок 1" descr="grishin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3" b="3"/>
          <a:stretch>
            <a:fillRect/>
          </a:stretch>
        </p:blipFill>
        <p:spPr/>
      </p:pic>
      <p:sp>
        <p:nvSpPr>
          <p:cNvPr id="288949743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КОМАНДА</a:t>
            </a:r>
            <a:endParaRPr lang="ru-RU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Капитан: архитектура, backend, интеграция LLM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⟨ник в Telegram⟩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⟨телефон⟩</a:t>
            </a:r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⟨университет⟩</a:t>
            </a:r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Матвей Гришин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О КОМАНДЕ</a:t>
            </a: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Познакомились в университете: Матвей был ментором по АиСД и дискретной математике, а Александр — практиком, с которым он работал.</a:t>
            </a:r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100">
                <a:solidFill>
                  <a:schemeClr val="tx1"/>
                </a:solidFill>
              </a:rPr>
              <a:t>Главный вызов — уместить ИИ в сервер учебного центра без GPU: выбрали T-lite в GGUF на llama.cpp и прогреваем кэш промпта, чтобы ИИ-заявитель отвечал без долгих пауз.</a:t>
            </a: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 sz="1100">
                <a:solidFill>
                  <a:schemeClr val="tx1"/>
                </a:solidFill>
              </a:rPr>
              <a:t>Второй — сделать ИИ честным: заявитель не раскрывает эталон, судья отвечает только «да/нет» на закрытые вопросы, а баллы считает код. Роль ДДС заказчик уточнил в процессе — переработали цикл статусов и рубрику.</a:t>
            </a: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Нам безумно интересна автоматизация рутины с помощью ИИ, особенно локальных языковых моделей. А помочь сотрудникам экстренных служб работать лучше, а новичкам — быстрее войти в ритм, мы увидели как отличную миссию.</a:t>
            </a:r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Модульный монолит на Go + PostgreSQL 16 (данные и очередь задач), SPA на React/TypeScript; всё поднимается одним docker compose.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Локальная LLM T-lite на llama.cpp, только CPU: ИИ-заявитель в чате и ИИ-судья описаний и комментариев.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Диктовка реплик голосом — whisper.cpp.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Оценка: детерминированные правила + LLM по закрытым вопросам; преподаватель может исправить любой балл.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Надёжность: идемпотентные команды, серверные нормативы времени, бэкапы, аудит, работа полностью офлайн.</a:t>
            </a:r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Для учебно-методических центров ГО и ЧС, служб 112 и ДДС регионов.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Заменяет бумажные билеты: интерфейс как в АРМ-112, нормативы времени, объективная оценка, отчёты CSV/PDF.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Суверенный ИИ: российская модель на железе заказчика, без зарубежных облаков и API.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Развитие: голосовой звонок с озвучкой заявителя, новые службы, ИИ-генерация сценариев ДДС, связка 112 → ДДС.</a:t>
            </a: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Внедрение: пилот в УМЦ, замер нагрузки на сервере заказчика, офлайн-пакет установки.</a:t>
            </a: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24016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59240170" name="Rounded Rectangle 859240169"/>
          <p:cNvSpPr/>
          <p:nvPr/>
        </p:nvSpPr>
        <p:spPr>
          <a:xfrm>
            <a:off x="347472" y="320040"/>
            <a:ext cx="1709928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1" name="TextBox 859240170"/>
          <p:cNvSpPr txBox="1"/>
          <p:nvPr/>
        </p:nvSpPr>
        <p:spPr>
          <a:xfrm>
            <a:off x="347472" y="320040"/>
            <a:ext cx="1709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ПРОБЛЕМА</a:t>
            </a:r>
          </a:p>
        </p:txBody>
      </p:sp>
      <p:sp>
        <p:nvSpPr>
          <p:cNvPr id="859240172" name="TextBox 859240171"/>
          <p:cNvSpPr txBox="1"/>
          <p:nvPr/>
        </p:nvSpPr>
        <p:spPr>
          <a:xfrm>
            <a:off x="411480" y="1234440"/>
            <a:ext cx="8686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310F53"/>
                </a:solidFill>
                <a:latin typeface="Montserrat"/>
              </a:rPr>
              <a:t>Диспетчеров экстренных служб учат по бумажным билетам</a:t>
            </a:r>
          </a:p>
        </p:txBody>
      </p:sp>
      <p:sp>
        <p:nvSpPr>
          <p:cNvPr id="859240173" name="TextBox 859240172"/>
          <p:cNvSpPr txBox="1"/>
          <p:nvPr/>
        </p:nvSpPr>
        <p:spPr>
          <a:xfrm>
            <a:off x="411480" y="2377440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5E556E"/>
                </a:solidFill>
                <a:latin typeface="Montserrat"/>
              </a:rPr>
              <a:t>А на реальной смене их ждут АРМ-112, норматив в 30 секунд и живой человек на линии.</a:t>
            </a:r>
          </a:p>
        </p:txBody>
      </p:sp>
      <p:sp>
        <p:nvSpPr>
          <p:cNvPr id="859240174" name="Rounded Rectangle 859240173"/>
          <p:cNvSpPr/>
          <p:nvPr/>
        </p:nvSpPr>
        <p:spPr>
          <a:xfrm>
            <a:off x="411480" y="3246120"/>
            <a:ext cx="3566160" cy="2788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FD6E4"/>
            </a:solidFill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5" name="Rounded Rectangle 859240174"/>
          <p:cNvSpPr/>
          <p:nvPr/>
        </p:nvSpPr>
        <p:spPr>
          <a:xfrm>
            <a:off x="685800" y="3520440"/>
            <a:ext cx="566928" cy="566928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6" name="TextBox 859240175"/>
          <p:cNvSpPr txBox="1"/>
          <p:nvPr/>
        </p:nvSpPr>
        <p:spPr>
          <a:xfrm>
            <a:off x="685800" y="35204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0053"/>
                </a:solidFill>
                <a:latin typeface="Montserrat"/>
              </a:rPr>
              <a:t>01</a:t>
            </a:r>
          </a:p>
        </p:txBody>
      </p:sp>
      <p:sp>
        <p:nvSpPr>
          <p:cNvPr id="859240177" name="TextBox 859240176"/>
          <p:cNvSpPr txBox="1"/>
          <p:nvPr/>
        </p:nvSpPr>
        <p:spPr>
          <a:xfrm>
            <a:off x="685800" y="4251960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10F53"/>
                </a:solidFill>
                <a:latin typeface="Montserrat"/>
              </a:rPr>
              <a:t>Нет интерфейса</a:t>
            </a:r>
          </a:p>
        </p:txBody>
      </p:sp>
      <p:sp>
        <p:nvSpPr>
          <p:cNvPr id="859240178" name="TextBox 859240177"/>
          <p:cNvSpPr txBox="1"/>
          <p:nvPr/>
        </p:nvSpPr>
        <p:spPr>
          <a:xfrm>
            <a:off x="685800" y="50749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E556E"/>
                </a:solidFill>
                <a:latin typeface="Montserrat"/>
              </a:rPr>
              <a:t>Курсант впервые видит карточку, статусы и список оповещения АРМ-112 уже на дежурстве.</a:t>
            </a:r>
          </a:p>
        </p:txBody>
      </p:sp>
      <p:sp>
        <p:nvSpPr>
          <p:cNvPr id="859240179" name="Rounded Rectangle 859240178"/>
          <p:cNvSpPr/>
          <p:nvPr/>
        </p:nvSpPr>
        <p:spPr>
          <a:xfrm>
            <a:off x="4233672" y="3246120"/>
            <a:ext cx="3566160" cy="2788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FD6E4"/>
            </a:solidFill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0" name="Rounded Rectangle 859240179"/>
          <p:cNvSpPr/>
          <p:nvPr/>
        </p:nvSpPr>
        <p:spPr>
          <a:xfrm>
            <a:off x="4507992" y="3520440"/>
            <a:ext cx="566928" cy="566928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1" name="TextBox 859240180"/>
          <p:cNvSpPr txBox="1"/>
          <p:nvPr/>
        </p:nvSpPr>
        <p:spPr>
          <a:xfrm>
            <a:off x="4507992" y="35204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0053"/>
                </a:solidFill>
                <a:latin typeface="Montserrat"/>
              </a:rPr>
              <a:t>02</a:t>
            </a:r>
          </a:p>
        </p:txBody>
      </p:sp>
      <p:sp>
        <p:nvSpPr>
          <p:cNvPr id="859240182" name="TextBox 859240181"/>
          <p:cNvSpPr txBox="1"/>
          <p:nvPr/>
        </p:nvSpPr>
        <p:spPr>
          <a:xfrm>
            <a:off x="4507992" y="4251960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10F53"/>
                </a:solidFill>
                <a:latin typeface="Montserrat"/>
              </a:rPr>
              <a:t>Нет контроля времени</a:t>
            </a:r>
          </a:p>
        </p:txBody>
      </p:sp>
      <p:sp>
        <p:nvSpPr>
          <p:cNvPr id="859240183" name="TextBox 859240182"/>
          <p:cNvSpPr txBox="1"/>
          <p:nvPr/>
        </p:nvSpPr>
        <p:spPr>
          <a:xfrm>
            <a:off x="4507992" y="50749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E556E"/>
                </a:solidFill>
                <a:latin typeface="Montserrat"/>
              </a:rPr>
              <a:t>Нормативы «принять за 30 секунд, отработать за 3 минуты» на бумаге не проверить.</a:t>
            </a:r>
          </a:p>
        </p:txBody>
      </p:sp>
      <p:sp>
        <p:nvSpPr>
          <p:cNvPr id="859240184" name="Rounded Rectangle 859240183"/>
          <p:cNvSpPr/>
          <p:nvPr/>
        </p:nvSpPr>
        <p:spPr>
          <a:xfrm>
            <a:off x="8055863" y="3246120"/>
            <a:ext cx="3566160" cy="2788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FFD6E4"/>
            </a:solidFill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5" name="Rounded Rectangle 859240184"/>
          <p:cNvSpPr/>
          <p:nvPr/>
        </p:nvSpPr>
        <p:spPr>
          <a:xfrm>
            <a:off x="8330183" y="3520440"/>
            <a:ext cx="566928" cy="566928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6" name="TextBox 859240185"/>
          <p:cNvSpPr txBox="1"/>
          <p:nvPr/>
        </p:nvSpPr>
        <p:spPr>
          <a:xfrm>
            <a:off x="8330183" y="35204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>
                <a:solidFill>
                  <a:srgbClr val="FF0053"/>
                </a:solidFill>
                <a:latin typeface="Montserrat"/>
              </a:rPr>
              <a:t>03</a:t>
            </a:r>
          </a:p>
        </p:txBody>
      </p:sp>
      <p:sp>
        <p:nvSpPr>
          <p:cNvPr id="859240187" name="TextBox 859240186"/>
          <p:cNvSpPr txBox="1"/>
          <p:nvPr/>
        </p:nvSpPr>
        <p:spPr>
          <a:xfrm>
            <a:off x="8330183" y="4251960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10F53"/>
                </a:solidFill>
                <a:latin typeface="Montserrat"/>
              </a:rPr>
              <a:t>Нет объективной оценки</a:t>
            </a:r>
          </a:p>
        </p:txBody>
      </p:sp>
      <p:sp>
        <p:nvSpPr>
          <p:cNvPr id="859240188" name="TextBox 859240187"/>
          <p:cNvSpPr txBox="1"/>
          <p:nvPr/>
        </p:nvSpPr>
        <p:spPr>
          <a:xfrm>
            <a:off x="8330183" y="5074920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E556E"/>
                </a:solidFill>
                <a:latin typeface="Montserrat"/>
              </a:rPr>
              <a:t>Результат зависит от преподавателя, а ошибки группы нигде не накапливаются и не разбираются.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24299942" name="Rounded Rectangle 224299941"/>
          <p:cNvSpPr/>
          <p:nvPr/>
        </p:nvSpPr>
        <p:spPr>
          <a:xfrm>
            <a:off x="347472" y="320040"/>
            <a:ext cx="1559052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3" name="TextBox 224299942"/>
          <p:cNvSpPr txBox="1"/>
          <p:nvPr/>
        </p:nvSpPr>
        <p:spPr>
          <a:xfrm>
            <a:off x="347472" y="320040"/>
            <a:ext cx="15590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РЕШЕНИЕ</a:t>
            </a:r>
          </a:p>
        </p:txBody>
      </p:sp>
      <p:sp>
        <p:nvSpPr>
          <p:cNvPr id="224299944" name="TextBox 224299943"/>
          <p:cNvSpPr txBox="1"/>
          <p:nvPr/>
        </p:nvSpPr>
        <p:spPr>
          <a:xfrm>
            <a:off x="411480" y="118872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EmSim — тренажёр в копии АРМ-112</a:t>
            </a:r>
          </a:p>
        </p:txBody>
      </p:sp>
      <p:sp>
        <p:nvSpPr>
          <p:cNvPr id="224299945" name="TextBox 224299944"/>
          <p:cNvSpPr txBox="1"/>
          <p:nvPr/>
        </p:nvSpPr>
        <p:spPr>
          <a:xfrm>
            <a:off x="411480" y="260604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D6E4"/>
                </a:solidFill>
                <a:latin typeface="Montserrat"/>
              </a:rPr>
              <a:t>Группа из 20–30 курсантов одновременно отрабатывает происшествия в знакомом интерфейсе. Преподаватель видит всё вживую и получает оценку каждой карточки.</a:t>
            </a:r>
          </a:p>
        </p:txBody>
      </p:sp>
      <p:sp>
        <p:nvSpPr>
          <p:cNvPr id="224299946" name="Rounded Rectangle 224299945"/>
          <p:cNvSpPr/>
          <p:nvPr/>
        </p:nvSpPr>
        <p:spPr>
          <a:xfrm>
            <a:off x="411480" y="4160520"/>
            <a:ext cx="109728" cy="50292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7" name="TextBox 224299946"/>
          <p:cNvSpPr txBox="1"/>
          <p:nvPr/>
        </p:nvSpPr>
        <p:spPr>
          <a:xfrm>
            <a:off x="685800" y="4142232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Два упражнения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FD6E4"/>
                </a:solidFill>
                <a:latin typeface="Montserrat"/>
              </a:rPr>
              <a:t>оператор 112 и диспетчер ДДС</a:t>
            </a:r>
          </a:p>
        </p:txBody>
      </p:sp>
      <p:sp>
        <p:nvSpPr>
          <p:cNvPr id="224299948" name="Rounded Rectangle 224299947"/>
          <p:cNvSpPr/>
          <p:nvPr/>
        </p:nvSpPr>
        <p:spPr>
          <a:xfrm>
            <a:off x="411480" y="4873752"/>
            <a:ext cx="109728" cy="50292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9" name="TextBox 224299948"/>
          <p:cNvSpPr txBox="1"/>
          <p:nvPr/>
        </p:nvSpPr>
        <p:spPr>
          <a:xfrm>
            <a:off x="685800" y="4855464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ИИ-заявитель и ИИ-судья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FD6E4"/>
                </a:solidFill>
                <a:latin typeface="Montserrat"/>
              </a:rPr>
              <a:t>на российской модели T-lite</a:t>
            </a:r>
          </a:p>
        </p:txBody>
      </p:sp>
      <p:sp>
        <p:nvSpPr>
          <p:cNvPr id="224299950" name="Rounded Rectangle 224299949"/>
          <p:cNvSpPr/>
          <p:nvPr/>
        </p:nvSpPr>
        <p:spPr>
          <a:xfrm>
            <a:off x="411480" y="5586983"/>
            <a:ext cx="109728" cy="50292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1" name="TextBox 224299950"/>
          <p:cNvSpPr txBox="1"/>
          <p:nvPr/>
        </p:nvSpPr>
        <p:spPr>
          <a:xfrm>
            <a:off x="685800" y="5568696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Полностью офлайн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FD6E4"/>
                </a:solidFill>
                <a:latin typeface="Montserrat"/>
              </a:rPr>
              <a:t>один сервер, без GPU и интернета</a:t>
            </a:r>
          </a:p>
        </p:txBody>
      </p:sp>
      <p:pic>
        <p:nvPicPr>
          <p:cNvPr id="224299952" name="Picture 224299951" descr="c-112-card-ch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234440"/>
            <a:ext cx="6400800" cy="3442208"/>
          </a:xfrm>
          <a:prstGeom prst="roundRect">
            <a:avLst>
              <a:gd name="adj" fmla="val 3500"/>
            </a:avLst>
          </a:prstGeom>
          <a:ln w="25400">
            <a:solidFill>
              <a:srgbClr val="FFFFFF"/>
            </a:solidFill>
          </a:ln>
          <a:effectLst>
            <a:outerShdw blurRad="279400" dist="76200" dir="5400000" algn="t" rotWithShape="0">
              <a:srgbClr val="1C0A33">
                <a:alpha val="30000"/>
              </a:srgbClr>
            </a:outerShdw>
          </a:effectLst>
        </p:spPr>
      </p:pic>
      <p:sp>
        <p:nvSpPr>
          <p:cNvPr id="224299953" name="TextBox 224299952"/>
          <p:cNvSpPr txBox="1"/>
          <p:nvPr/>
        </p:nvSpPr>
        <p:spPr>
          <a:xfrm>
            <a:off x="5440680" y="48006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1">
                <a:solidFill>
                  <a:srgbClr val="FFD6E4"/>
                </a:solidFill>
                <a:latin typeface="Montserrat"/>
              </a:rPr>
              <a:t>Рабочее место оператора 112: карточка и чат с ИИ-заявителем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24016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59240170" name="Rounded Rectangle 859240169"/>
          <p:cNvSpPr/>
          <p:nvPr/>
        </p:nvSpPr>
        <p:spPr>
          <a:xfrm>
            <a:off x="347472" y="320040"/>
            <a:ext cx="2615184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1" name="TextBox 859240170"/>
          <p:cNvSpPr txBox="1"/>
          <p:nvPr/>
        </p:nvSpPr>
        <p:spPr>
          <a:xfrm>
            <a:off x="347472" y="320040"/>
            <a:ext cx="26151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ДВА УПРАЖНЕНИЯ</a:t>
            </a:r>
          </a:p>
        </p:txBody>
      </p:sp>
      <p:pic>
        <p:nvPicPr>
          <p:cNvPr id="859240172" name="Picture 859240171" descr="c-112-gas-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5486400" cy="2950464"/>
          </a:xfrm>
          <a:prstGeom prst="roundRect">
            <a:avLst>
              <a:gd name="adj" fmla="val 3500"/>
            </a:avLst>
          </a:prstGeom>
          <a:ln w="12700">
            <a:solidFill>
              <a:srgbClr val="FFD6E4"/>
            </a:solidFill>
          </a:ln>
          <a:effectLst>
            <a:outerShdw blurRad="279400" dist="76200" dir="5400000" algn="t" rotWithShape="0">
              <a:srgbClr val="1C0A33">
                <a:alpha val="30000"/>
              </a:srgbClr>
            </a:outerShdw>
          </a:effectLst>
        </p:spPr>
      </p:pic>
      <p:sp>
        <p:nvSpPr>
          <p:cNvPr id="859240173" name="TextBox 859240172"/>
          <p:cNvSpPr txBox="1"/>
          <p:nvPr/>
        </p:nvSpPr>
        <p:spPr>
          <a:xfrm>
            <a:off x="411480" y="425196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310F53"/>
                </a:solidFill>
                <a:latin typeface="Montserrat"/>
              </a:rPr>
              <a:t>Оператор 112</a:t>
            </a:r>
          </a:p>
        </p:txBody>
      </p:sp>
      <p:sp>
        <p:nvSpPr>
          <p:cNvPr id="859240174" name="TextBox 859240173"/>
          <p:cNvSpPr txBox="1"/>
          <p:nvPr/>
        </p:nvSpPr>
        <p:spPr>
          <a:xfrm>
            <a:off x="411480" y="470916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0000"/>
              </a:lnSpc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Принимает входящий вызов и опрашивает заявителя</a:t>
            </a:r>
          </a:p>
          <a:p>
            <a:pPr algn="l" marL="237744" indent="-237744">
              <a:lnSpc>
                <a:spcPct val="110000"/>
              </a:lnSpc>
              <a:spcBef>
                <a:spcPts val="5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Заполняет карточку и профильные карты 104 / 101</a:t>
            </a:r>
          </a:p>
          <a:p>
            <a:pPr algn="l" marL="237744" indent="-237744">
              <a:lnSpc>
                <a:spcPct val="110000"/>
              </a:lnSpc>
              <a:spcBef>
                <a:spcPts val="5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Проверяет список служб и оповещает их одним действием</a:t>
            </a:r>
          </a:p>
        </p:txBody>
      </p:sp>
      <p:pic>
        <p:nvPicPr>
          <p:cNvPr id="859240175" name="Picture 859240174" descr="c-dds-open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143000"/>
            <a:ext cx="5486400" cy="3084576"/>
          </a:xfrm>
          <a:prstGeom prst="roundRect">
            <a:avLst>
              <a:gd name="adj" fmla="val 3500"/>
            </a:avLst>
          </a:prstGeom>
          <a:ln w="12700">
            <a:solidFill>
              <a:srgbClr val="FFD6E4"/>
            </a:solidFill>
          </a:ln>
          <a:effectLst>
            <a:outerShdw blurRad="279400" dist="76200" dir="5400000" algn="t" rotWithShape="0">
              <a:srgbClr val="1C0A33">
                <a:alpha val="30000"/>
              </a:srgbClr>
            </a:outerShdw>
          </a:effectLst>
        </p:spPr>
      </p:pic>
      <p:sp>
        <p:nvSpPr>
          <p:cNvPr id="859240176" name="TextBox 859240175"/>
          <p:cNvSpPr txBox="1"/>
          <p:nvPr/>
        </p:nvSpPr>
        <p:spPr>
          <a:xfrm>
            <a:off x="6172200" y="425196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 i="0">
                <a:solidFill>
                  <a:srgbClr val="310F53"/>
                </a:solidFill>
                <a:latin typeface="Montserrat"/>
              </a:rPr>
              <a:t>Диспетчер ДДС района и скорой (03)</a:t>
            </a:r>
          </a:p>
        </p:txBody>
      </p:sp>
      <p:sp>
        <p:nvSpPr>
          <p:cNvPr id="859240177" name="TextBox 859240176"/>
          <p:cNvSpPr txBox="1"/>
          <p:nvPr/>
        </p:nvSpPr>
        <p:spPr>
          <a:xfrm>
            <a:off x="6172200" y="470916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0000"/>
              </a:lnSpc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Получает карточку от 112 и принимает её за 30 секунд</a:t>
            </a:r>
          </a:p>
          <a:p>
            <a:pPr algn="l" marL="237744" indent="-237744">
              <a:lnSpc>
                <a:spcPct val="110000"/>
              </a:lnSpc>
              <a:spcBef>
                <a:spcPts val="5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Связывается с бригадой, отвечает на входящие звонки</a:t>
            </a:r>
          </a:p>
          <a:p>
            <a:pPr algn="l" marL="237744" indent="-237744">
              <a:lnSpc>
                <a:spcPct val="110000"/>
              </a:lnSpc>
              <a:spcBef>
                <a:spcPts val="5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Ведёт статусы реагирования до «Работы завершены»</a:t>
            </a:r>
          </a:p>
        </p:txBody>
      </p:sp>
      <p:sp>
        <p:nvSpPr>
          <p:cNvPr id="859240178" name="TextBox 859240177"/>
          <p:cNvSpPr txBox="1"/>
          <p:nvPr/>
        </p:nvSpPr>
        <p:spPr>
          <a:xfrm>
            <a:off x="411480" y="619963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1">
                <a:solidFill>
                  <a:srgbClr val="520978"/>
                </a:solidFill>
                <a:latin typeface="Montserrat"/>
              </a:rPr>
              <a:t>У каждого упражнения свои сценарии, правила, рубрика и отчёты — результаты 112 и ДДС никогда не смешиваются.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24299942" name="Rounded Rectangle 224299941"/>
          <p:cNvSpPr/>
          <p:nvPr/>
        </p:nvSpPr>
        <p:spPr>
          <a:xfrm>
            <a:off x="347472" y="320040"/>
            <a:ext cx="2464308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3" name="TextBox 224299942"/>
          <p:cNvSpPr txBox="1"/>
          <p:nvPr/>
        </p:nvSpPr>
        <p:spPr>
          <a:xfrm>
            <a:off x="347472" y="320040"/>
            <a:ext cx="24643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СУВЕРЕННЫЙ ИИ</a:t>
            </a:r>
          </a:p>
        </p:txBody>
      </p:sp>
      <p:sp>
        <p:nvSpPr>
          <p:cNvPr id="224299944" name="TextBox 224299943"/>
          <p:cNvSpPr txBox="1"/>
          <p:nvPr/>
        </p:nvSpPr>
        <p:spPr>
          <a:xfrm>
            <a:off x="411480" y="1143000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Весь искусственный интеллект работает внутри учебного центра</a:t>
            </a:r>
          </a:p>
        </p:txBody>
      </p:sp>
      <p:sp>
        <p:nvSpPr>
          <p:cNvPr id="224299945" name="Rounded Rectangle 224299944"/>
          <p:cNvSpPr/>
          <p:nvPr/>
        </p:nvSpPr>
        <p:spPr>
          <a:xfrm>
            <a:off x="411480" y="2240280"/>
            <a:ext cx="53949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6" name="TextBox 224299945"/>
          <p:cNvSpPr txBox="1"/>
          <p:nvPr/>
        </p:nvSpPr>
        <p:spPr>
          <a:xfrm>
            <a:off x="731520" y="2468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FF0053"/>
                </a:solidFill>
                <a:latin typeface="Montserrat"/>
              </a:rPr>
              <a:t>ЯЗЫКОВАЯ МОДЕЛЬ</a:t>
            </a:r>
          </a:p>
        </p:txBody>
      </p:sp>
      <p:sp>
        <p:nvSpPr>
          <p:cNvPr id="224299947" name="TextBox 224299946"/>
          <p:cNvSpPr txBox="1"/>
          <p:nvPr/>
        </p:nvSpPr>
        <p:spPr>
          <a:xfrm>
            <a:off x="731520" y="27432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310F53"/>
                </a:solidFill>
                <a:latin typeface="Montserrat"/>
              </a:rPr>
              <a:t>T-lite от Т-Банка</a:t>
            </a:r>
          </a:p>
        </p:txBody>
      </p:sp>
      <p:sp>
        <p:nvSpPr>
          <p:cNvPr id="224299948" name="TextBox 224299947"/>
          <p:cNvSpPr txBox="1"/>
          <p:nvPr/>
        </p:nvSpPr>
        <p:spPr>
          <a:xfrm>
            <a:off x="731520" y="3429000"/>
            <a:ext cx="4892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0000"/>
              </a:lnSpc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Российская модель T-lite-it-2.1 (Т-Технологии)</a:t>
            </a:r>
          </a:p>
          <a:p>
            <a:pPr algn="l" marL="237744" indent="-237744">
              <a:lnSpc>
                <a:spcPct val="110000"/>
              </a:lnSpc>
              <a:spcBef>
                <a:spcPts val="6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Сильна именно в русском языке — ответы заявителя звучат естественно</a:t>
            </a:r>
          </a:p>
          <a:p>
            <a:pPr algn="l" marL="237744" indent="-237744">
              <a:lnSpc>
                <a:spcPct val="110000"/>
              </a:lnSpc>
              <a:spcBef>
                <a:spcPts val="6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Открытая лицензия Apache 2.0: без подписок и платы за запросы</a:t>
            </a:r>
          </a:p>
          <a:p>
            <a:pPr algn="l" marL="237744" indent="-237744">
              <a:lnSpc>
                <a:spcPct val="110000"/>
              </a:lnSpc>
              <a:spcBef>
                <a:spcPts val="6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8 млрд параметров — работает на обычном CPU-сервере</a:t>
            </a:r>
          </a:p>
        </p:txBody>
      </p:sp>
      <p:sp>
        <p:nvSpPr>
          <p:cNvPr id="224299949" name="Rounded Rectangle 224299948"/>
          <p:cNvSpPr/>
          <p:nvPr/>
        </p:nvSpPr>
        <p:spPr>
          <a:xfrm>
            <a:off x="6126480" y="2240280"/>
            <a:ext cx="5669280" cy="3246120"/>
          </a:xfrm>
          <a:prstGeom prst="roundRect">
            <a:avLst>
              <a:gd name="adj" fmla="val 6000"/>
            </a:avLst>
          </a:prstGeom>
          <a:noFill/>
          <a:ln w="254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0" name="TextBox 224299949"/>
          <p:cNvSpPr txBox="1"/>
          <p:nvPr/>
        </p:nvSpPr>
        <p:spPr>
          <a:xfrm>
            <a:off x="6355080" y="237744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FFD6E4"/>
                </a:solidFill>
                <a:latin typeface="Montserrat"/>
              </a:rPr>
              <a:t>СЕРВЕР УЧЕБНОГО ЦЕНТРА</a:t>
            </a:r>
          </a:p>
        </p:txBody>
      </p:sp>
      <p:sp>
        <p:nvSpPr>
          <p:cNvPr id="224299951" name="Rounded Rectangle 224299950"/>
          <p:cNvSpPr/>
          <p:nvPr/>
        </p:nvSpPr>
        <p:spPr>
          <a:xfrm>
            <a:off x="6355080" y="2788920"/>
            <a:ext cx="2468880" cy="1005840"/>
          </a:xfrm>
          <a:prstGeom prst="roundRect">
            <a:avLst>
              <a:gd name="adj" fmla="val 12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2" name="TextBox 224299951"/>
          <p:cNvSpPr txBox="1"/>
          <p:nvPr/>
        </p:nvSpPr>
        <p:spPr>
          <a:xfrm>
            <a:off x="6519672" y="2916936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EmSim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FD6E4"/>
                </a:solidFill>
                <a:latin typeface="Montserrat"/>
              </a:rPr>
              <a:t>тренажёр: api + worker</a:t>
            </a:r>
          </a:p>
        </p:txBody>
      </p:sp>
      <p:sp>
        <p:nvSpPr>
          <p:cNvPr id="224299953" name="Rounded Rectangle 224299952"/>
          <p:cNvSpPr/>
          <p:nvPr/>
        </p:nvSpPr>
        <p:spPr>
          <a:xfrm>
            <a:off x="9006840" y="2788920"/>
            <a:ext cx="2468880" cy="1005840"/>
          </a:xfrm>
          <a:prstGeom prst="roundRect">
            <a:avLst>
              <a:gd name="adj" fmla="val 12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4" name="TextBox 224299953"/>
          <p:cNvSpPr txBox="1"/>
          <p:nvPr/>
        </p:nvSpPr>
        <p:spPr>
          <a:xfrm>
            <a:off x="9171432" y="2916936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PostgreSQL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FD6E4"/>
                </a:solidFill>
                <a:latin typeface="Montserrat"/>
              </a:rPr>
              <a:t>данные и очередь задач</a:t>
            </a:r>
          </a:p>
        </p:txBody>
      </p:sp>
      <p:sp>
        <p:nvSpPr>
          <p:cNvPr id="224299955" name="Rounded Rectangle 224299954"/>
          <p:cNvSpPr/>
          <p:nvPr/>
        </p:nvSpPr>
        <p:spPr>
          <a:xfrm>
            <a:off x="6355080" y="3977639"/>
            <a:ext cx="2468880" cy="1005840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6" name="TextBox 224299955"/>
          <p:cNvSpPr txBox="1"/>
          <p:nvPr/>
        </p:nvSpPr>
        <p:spPr>
          <a:xfrm>
            <a:off x="6519672" y="4105655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LLM T-lite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FFFFF"/>
                </a:solidFill>
                <a:latin typeface="Montserrat"/>
              </a:rPr>
              <a:t>llama.cpp: заявитель и судья</a:t>
            </a:r>
          </a:p>
        </p:txBody>
      </p:sp>
      <p:sp>
        <p:nvSpPr>
          <p:cNvPr id="224299957" name="Rounded Rectangle 224299956"/>
          <p:cNvSpPr/>
          <p:nvPr/>
        </p:nvSpPr>
        <p:spPr>
          <a:xfrm>
            <a:off x="9006840" y="3977639"/>
            <a:ext cx="2468880" cy="1005840"/>
          </a:xfrm>
          <a:prstGeom prst="roundRect">
            <a:avLst>
              <a:gd name="adj" fmla="val 12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8" name="TextBox 224299957"/>
          <p:cNvSpPr txBox="1"/>
          <p:nvPr/>
        </p:nvSpPr>
        <p:spPr>
          <a:xfrm>
            <a:off x="9171432" y="4105655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Распознавание речи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FFD6E4"/>
                </a:solidFill>
                <a:latin typeface="Montserrat"/>
              </a:rPr>
              <a:t>whisper.cpp: диктовка</a:t>
            </a:r>
          </a:p>
        </p:txBody>
      </p:sp>
      <p:sp>
        <p:nvSpPr>
          <p:cNvPr id="224299959" name="TextBox 224299958"/>
          <p:cNvSpPr txBox="1"/>
          <p:nvPr/>
        </p:nvSpPr>
        <p:spPr>
          <a:xfrm>
            <a:off x="6355080" y="51389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1">
                <a:solidFill>
                  <a:srgbClr val="FFD6E4"/>
                </a:solidFill>
                <a:latin typeface="Montserrat"/>
              </a:rPr>
              <a:t>Модели — в изолированной сети без выхода в интернет</a:t>
            </a:r>
          </a:p>
        </p:txBody>
      </p:sp>
      <p:sp>
        <p:nvSpPr>
          <p:cNvPr id="224299960" name="TextBox 224299959"/>
          <p:cNvSpPr txBox="1"/>
          <p:nvPr/>
        </p:nvSpPr>
        <p:spPr>
          <a:xfrm>
            <a:off x="411480" y="55778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FF0053"/>
                </a:solidFill>
                <a:latin typeface="Montserrat"/>
              </a:rPr>
              <a:t>0</a:t>
            </a:r>
          </a:p>
        </p:txBody>
      </p:sp>
      <p:sp>
        <p:nvSpPr>
          <p:cNvPr id="224299961" name="TextBox 224299960"/>
          <p:cNvSpPr txBox="1"/>
          <p:nvPr/>
        </p:nvSpPr>
        <p:spPr>
          <a:xfrm>
            <a:off x="411480" y="60350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FFFFFF"/>
                </a:solidFill>
                <a:latin typeface="Montserrat"/>
              </a:rPr>
              <a:t>обращений к зарубежным облакам и API</a:t>
            </a:r>
          </a:p>
        </p:txBody>
      </p:sp>
      <p:sp>
        <p:nvSpPr>
          <p:cNvPr id="224299962" name="TextBox 224299961"/>
          <p:cNvSpPr txBox="1"/>
          <p:nvPr/>
        </p:nvSpPr>
        <p:spPr>
          <a:xfrm>
            <a:off x="4251960" y="55778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FF0053"/>
                </a:solidFill>
                <a:latin typeface="Montserrat"/>
              </a:rPr>
              <a:t>100%</a:t>
            </a:r>
          </a:p>
        </p:txBody>
      </p:sp>
      <p:sp>
        <p:nvSpPr>
          <p:cNvPr id="224299963" name="TextBox 224299962"/>
          <p:cNvSpPr txBox="1"/>
          <p:nvPr/>
        </p:nvSpPr>
        <p:spPr>
          <a:xfrm>
            <a:off x="4251960" y="60350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FFFFFF"/>
                </a:solidFill>
                <a:latin typeface="Montserrat"/>
              </a:rPr>
              <a:t>данных курсантов остаются у заказчика</a:t>
            </a:r>
          </a:p>
        </p:txBody>
      </p:sp>
      <p:sp>
        <p:nvSpPr>
          <p:cNvPr id="224299964" name="TextBox 224299963"/>
          <p:cNvSpPr txBox="1"/>
          <p:nvPr/>
        </p:nvSpPr>
        <p:spPr>
          <a:xfrm>
            <a:off x="8092440" y="55778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FF0053"/>
                </a:solidFill>
                <a:latin typeface="Montserrat"/>
              </a:rPr>
              <a:t>1 сервер</a:t>
            </a:r>
          </a:p>
        </p:txBody>
      </p:sp>
      <p:sp>
        <p:nvSpPr>
          <p:cNvPr id="224299965" name="TextBox 224299964"/>
          <p:cNvSpPr txBox="1"/>
          <p:nvPr/>
        </p:nvSpPr>
        <p:spPr>
          <a:xfrm>
            <a:off x="8092440" y="60350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FFFFFF"/>
                </a:solidFill>
                <a:latin typeface="Montserrat"/>
              </a:rPr>
              <a:t>6 ядер, 32 ГБ — видеокарта не нужна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24016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59240170" name="Rounded Rectangle 859240169"/>
          <p:cNvSpPr/>
          <p:nvPr/>
        </p:nvSpPr>
        <p:spPr>
          <a:xfrm>
            <a:off x="347472" y="320040"/>
            <a:ext cx="2313432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1" name="TextBox 859240170"/>
          <p:cNvSpPr txBox="1"/>
          <p:nvPr/>
        </p:nvSpPr>
        <p:spPr>
          <a:xfrm>
            <a:off x="347472" y="320040"/>
            <a:ext cx="231343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ИИ-ЗАЯВИТЕЛЬ</a:t>
            </a:r>
          </a:p>
        </p:txBody>
      </p:sp>
      <p:sp>
        <p:nvSpPr>
          <p:cNvPr id="859240172" name="TextBox 859240171"/>
          <p:cNvSpPr txBox="1"/>
          <p:nvPr/>
        </p:nvSpPr>
        <p:spPr>
          <a:xfrm>
            <a:off x="411480" y="1143000"/>
            <a:ext cx="11338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10F53"/>
                </a:solidFill>
                <a:latin typeface="Montserrat"/>
              </a:rPr>
              <a:t>Заявитель отвечает как живой человек — и ничего не подсказывает</a:t>
            </a:r>
          </a:p>
        </p:txBody>
      </p:sp>
      <p:pic>
        <p:nvPicPr>
          <p:cNvPr id="859240173" name="Picture 859240172" descr="c-112-chatl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57400"/>
            <a:ext cx="6949440" cy="2764884"/>
          </a:xfrm>
          <a:prstGeom prst="roundRect">
            <a:avLst>
              <a:gd name="adj" fmla="val 3500"/>
            </a:avLst>
          </a:prstGeom>
          <a:ln w="12700">
            <a:solidFill>
              <a:srgbClr val="FFD6E4"/>
            </a:solidFill>
          </a:ln>
          <a:effectLst>
            <a:outerShdw blurRad="279400" dist="76200" dir="5400000" algn="t" rotWithShape="0">
              <a:srgbClr val="1C0A33">
                <a:alpha val="30000"/>
              </a:srgbClr>
            </a:outerShdw>
          </a:effectLst>
        </p:spPr>
      </p:pic>
      <p:sp>
        <p:nvSpPr>
          <p:cNvPr id="859240174" name="TextBox 859240173"/>
          <p:cNvSpPr txBox="1"/>
          <p:nvPr/>
        </p:nvSpPr>
        <p:spPr>
          <a:xfrm>
            <a:off x="411480" y="489204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1">
                <a:solidFill>
                  <a:srgbClr val="5E556E"/>
                </a:solidFill>
                <a:latin typeface="Montserrat"/>
              </a:rPr>
              <a:t>Реальный разговор курсанта с моделью T-lite: ответы приходят за секунды, каждый ход сохранён для разбора</a:t>
            </a:r>
          </a:p>
        </p:txBody>
      </p:sp>
      <p:sp>
        <p:nvSpPr>
          <p:cNvPr id="859240175" name="TextBox 859240174"/>
          <p:cNvSpPr txBox="1"/>
          <p:nvPr/>
        </p:nvSpPr>
        <p:spPr>
          <a:xfrm>
            <a:off x="7726679" y="210312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0000"/>
              </a:lnSpc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Курсант задаёт вопросы своими словами — текстом или голосом</a:t>
            </a:r>
          </a:p>
          <a:p>
            <a:pPr algn="l" marL="237744" indent="-237744">
              <a:lnSpc>
                <a:spcPct val="110000"/>
              </a:lnSpc>
              <a:spcBef>
                <a:spcPts val="8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Модель знает факты сценария, но раскрывает их только в ответ на правильный вопрос</a:t>
            </a:r>
          </a:p>
          <a:p>
            <a:pPr algn="l" marL="237744" indent="-237744">
              <a:lnSpc>
                <a:spcPct val="110000"/>
              </a:lnSpc>
              <a:spcBef>
                <a:spcPts val="8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Эталон и рубрика модели не передаются</a:t>
            </a:r>
          </a:p>
          <a:p>
            <a:pPr algn="l" marL="237744" indent="-237744">
              <a:lnSpc>
                <a:spcPct val="110000"/>
              </a:lnSpc>
              <a:spcBef>
                <a:spcPts val="8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Каждый ответ записан с именем модели и версией промпта</a:t>
            </a:r>
          </a:p>
          <a:p>
            <a:pPr algn="l" marL="237744" indent="-237744">
              <a:lnSpc>
                <a:spcPct val="110000"/>
              </a:lnSpc>
              <a:spcBef>
                <a:spcPts val="8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Без модели сценарий идёт на подготовленных вопросах</a:t>
            </a:r>
          </a:p>
        </p:txBody>
      </p:sp>
      <p:sp>
        <p:nvSpPr>
          <p:cNvPr id="859240176" name="Rounded Rectangle 859240175"/>
          <p:cNvSpPr/>
          <p:nvPr/>
        </p:nvSpPr>
        <p:spPr>
          <a:xfrm>
            <a:off x="411480" y="5349240"/>
            <a:ext cx="11384280" cy="868680"/>
          </a:xfrm>
          <a:prstGeom prst="roundRect">
            <a:avLst>
              <a:gd name="adj" fmla="val 15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7" name="TextBox 859240176"/>
          <p:cNvSpPr txBox="1"/>
          <p:nvPr/>
        </p:nvSpPr>
        <p:spPr>
          <a:xfrm>
            <a:off x="731520" y="5349240"/>
            <a:ext cx="10789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FFFFFF"/>
                </a:solidFill>
                <a:latin typeface="Montserrat"/>
              </a:rPr>
              <a:t>«Четыре ребёнка: трёх лет, шести, девяти и двенадцати. Взрослых дома только я — больше никого нет.»</a:t>
            </a:r>
            <a:r>
              <a:rPr sz="1100" b="0" i="0">
                <a:solidFill>
                  <a:srgbClr val="FFD6E4"/>
                </a:solidFill>
                <a:latin typeface="Montserrat"/>
              </a:rPr>
              <a:t>   — ИИ-заявитель, сценарий «Запах газа на кухне»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24299942" name="Rounded Rectangle 224299941"/>
          <p:cNvSpPr/>
          <p:nvPr/>
        </p:nvSpPr>
        <p:spPr>
          <a:xfrm>
            <a:off x="347472" y="320040"/>
            <a:ext cx="4274820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3" name="TextBox 224299942"/>
          <p:cNvSpPr txBox="1"/>
          <p:nvPr/>
        </p:nvSpPr>
        <p:spPr>
          <a:xfrm>
            <a:off x="347472" y="320040"/>
            <a:ext cx="42748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ОПЕРАТОР 112: ПОЛНЫЙ ЦИКЛ</a:t>
            </a:r>
          </a:p>
        </p:txBody>
      </p:sp>
      <p:sp>
        <p:nvSpPr>
          <p:cNvPr id="224299944" name="Rounded Rectangle 224299943"/>
          <p:cNvSpPr/>
          <p:nvPr/>
        </p:nvSpPr>
        <p:spPr>
          <a:xfrm>
            <a:off x="411480" y="1188720"/>
            <a:ext cx="55778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4299945" name="Picture 224299944" descr="c-112-inco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40230"/>
            <a:ext cx="3429000" cy="1028700"/>
          </a:xfrm>
          <a:prstGeom prst="roundRect">
            <a:avLst>
              <a:gd name="adj" fmla="val 3500"/>
            </a:avLst>
          </a:prstGeom>
          <a:ln w="9525">
            <a:solidFill>
              <a:srgbClr val="FFD6E4"/>
            </a:solidFill>
          </a:ln>
        </p:spPr>
      </p:pic>
      <p:sp>
        <p:nvSpPr>
          <p:cNvPr id="224299946" name="Rounded Rectangle 224299945"/>
          <p:cNvSpPr/>
          <p:nvPr/>
        </p:nvSpPr>
        <p:spPr>
          <a:xfrm>
            <a:off x="4160520" y="1463040"/>
            <a:ext cx="457200" cy="45720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7" name="TextBox 224299946"/>
          <p:cNvSpPr txBox="1"/>
          <p:nvPr/>
        </p:nvSpPr>
        <p:spPr>
          <a:xfrm>
            <a:off x="4160520" y="1463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0053"/>
                </a:solidFill>
                <a:latin typeface="Montserrat"/>
              </a:rPr>
              <a:t>1</a:t>
            </a:r>
          </a:p>
        </p:txBody>
      </p:sp>
      <p:sp>
        <p:nvSpPr>
          <p:cNvPr id="224299948" name="TextBox 224299947"/>
          <p:cNvSpPr txBox="1"/>
          <p:nvPr/>
        </p:nvSpPr>
        <p:spPr>
          <a:xfrm>
            <a:off x="4160520" y="205740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10F53"/>
                </a:solidFill>
                <a:latin typeface="Montserrat"/>
              </a:rPr>
              <a:t>Входящий вызов</a:t>
            </a:r>
          </a:p>
        </p:txBody>
      </p:sp>
      <p:sp>
        <p:nvSpPr>
          <p:cNvPr id="224299949" name="TextBox 224299948"/>
          <p:cNvSpPr txBox="1"/>
          <p:nvPr/>
        </p:nvSpPr>
        <p:spPr>
          <a:xfrm>
            <a:off x="4160520" y="265176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E556E"/>
                </a:solidFill>
                <a:latin typeface="Montserrat"/>
              </a:rPr>
              <a:t>Звонок появляется поверх списка — «Принять»</a:t>
            </a:r>
          </a:p>
        </p:txBody>
      </p:sp>
      <p:sp>
        <p:nvSpPr>
          <p:cNvPr id="224299950" name="Rounded Rectangle 224299949"/>
          <p:cNvSpPr/>
          <p:nvPr/>
        </p:nvSpPr>
        <p:spPr>
          <a:xfrm>
            <a:off x="6172200" y="1188720"/>
            <a:ext cx="55778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4299951" name="Picture 224299950" descr="c-112-card-cha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32560"/>
            <a:ext cx="3429000" cy="1844040"/>
          </a:xfrm>
          <a:prstGeom prst="roundRect">
            <a:avLst>
              <a:gd name="adj" fmla="val 3500"/>
            </a:avLst>
          </a:prstGeom>
          <a:ln w="9525">
            <a:solidFill>
              <a:srgbClr val="FFD6E4"/>
            </a:solidFill>
          </a:ln>
        </p:spPr>
      </p:pic>
      <p:sp>
        <p:nvSpPr>
          <p:cNvPr id="224299952" name="Rounded Rectangle 224299951"/>
          <p:cNvSpPr/>
          <p:nvPr/>
        </p:nvSpPr>
        <p:spPr>
          <a:xfrm>
            <a:off x="9921240" y="1463040"/>
            <a:ext cx="457200" cy="45720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3" name="TextBox 224299952"/>
          <p:cNvSpPr txBox="1"/>
          <p:nvPr/>
        </p:nvSpPr>
        <p:spPr>
          <a:xfrm>
            <a:off x="9921240" y="1463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0053"/>
                </a:solidFill>
                <a:latin typeface="Montserrat"/>
              </a:rPr>
              <a:t>2</a:t>
            </a:r>
          </a:p>
        </p:txBody>
      </p:sp>
      <p:sp>
        <p:nvSpPr>
          <p:cNvPr id="224299954" name="TextBox 224299953"/>
          <p:cNvSpPr txBox="1"/>
          <p:nvPr/>
        </p:nvSpPr>
        <p:spPr>
          <a:xfrm>
            <a:off x="9921240" y="205740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10F53"/>
                </a:solidFill>
                <a:latin typeface="Montserrat"/>
              </a:rPr>
              <a:t>Опрос и карточка</a:t>
            </a:r>
          </a:p>
        </p:txBody>
      </p:sp>
      <p:sp>
        <p:nvSpPr>
          <p:cNvPr id="224299955" name="TextBox 224299954"/>
          <p:cNvSpPr txBox="1"/>
          <p:nvPr/>
        </p:nvSpPr>
        <p:spPr>
          <a:xfrm>
            <a:off x="9921240" y="265176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E556E"/>
                </a:solidFill>
                <a:latin typeface="Montserrat"/>
              </a:rPr>
              <a:t>Чат с заявителем рядом с формой АРМ-112</a:t>
            </a:r>
          </a:p>
        </p:txBody>
      </p:sp>
      <p:sp>
        <p:nvSpPr>
          <p:cNvPr id="224299956" name="Rounded Rectangle 224299955"/>
          <p:cNvSpPr/>
          <p:nvPr/>
        </p:nvSpPr>
        <p:spPr>
          <a:xfrm>
            <a:off x="411480" y="3675888"/>
            <a:ext cx="55778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4299957" name="Picture 224299956" descr="c-112-profi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20229"/>
            <a:ext cx="3429000" cy="1443037"/>
          </a:xfrm>
          <a:prstGeom prst="roundRect">
            <a:avLst>
              <a:gd name="adj" fmla="val 3500"/>
            </a:avLst>
          </a:prstGeom>
          <a:ln w="9525">
            <a:solidFill>
              <a:srgbClr val="FFD6E4"/>
            </a:solidFill>
          </a:ln>
        </p:spPr>
      </p:pic>
      <p:sp>
        <p:nvSpPr>
          <p:cNvPr id="224299958" name="Rounded Rectangle 224299957"/>
          <p:cNvSpPr/>
          <p:nvPr/>
        </p:nvSpPr>
        <p:spPr>
          <a:xfrm>
            <a:off x="4160520" y="3950208"/>
            <a:ext cx="457200" cy="45720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9" name="TextBox 224299958"/>
          <p:cNvSpPr txBox="1"/>
          <p:nvPr/>
        </p:nvSpPr>
        <p:spPr>
          <a:xfrm>
            <a:off x="4160520" y="39502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0053"/>
                </a:solidFill>
                <a:latin typeface="Montserrat"/>
              </a:rPr>
              <a:t>3</a:t>
            </a:r>
          </a:p>
        </p:txBody>
      </p:sp>
      <p:sp>
        <p:nvSpPr>
          <p:cNvPr id="224299960" name="TextBox 224299959"/>
          <p:cNvSpPr txBox="1"/>
          <p:nvPr/>
        </p:nvSpPr>
        <p:spPr>
          <a:xfrm>
            <a:off x="4160520" y="4544568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10F53"/>
                </a:solidFill>
                <a:latin typeface="Montserrat"/>
              </a:rPr>
              <a:t>Профильная карта</a:t>
            </a:r>
          </a:p>
        </p:txBody>
      </p:sp>
      <p:sp>
        <p:nvSpPr>
          <p:cNvPr id="224299961" name="TextBox 224299960"/>
          <p:cNvSpPr txBox="1"/>
          <p:nvPr/>
        </p:nvSpPr>
        <p:spPr>
          <a:xfrm>
            <a:off x="4160520" y="5138928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E556E"/>
                </a:solidFill>
                <a:latin typeface="Montserrat"/>
              </a:rPr>
              <a:t>104 (газ) и 101 (пожар) по типу происшествия</a:t>
            </a:r>
          </a:p>
        </p:txBody>
      </p:sp>
      <p:sp>
        <p:nvSpPr>
          <p:cNvPr id="224299962" name="Rounded Rectangle 224299961"/>
          <p:cNvSpPr/>
          <p:nvPr/>
        </p:nvSpPr>
        <p:spPr>
          <a:xfrm>
            <a:off x="6172200" y="3675888"/>
            <a:ext cx="55778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4299963" name="Picture 224299962" descr="c-112-service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2253" y="3813048"/>
            <a:ext cx="2283212" cy="2057400"/>
          </a:xfrm>
          <a:prstGeom prst="roundRect">
            <a:avLst>
              <a:gd name="adj" fmla="val 3500"/>
            </a:avLst>
          </a:prstGeom>
          <a:ln w="9525">
            <a:solidFill>
              <a:srgbClr val="FFD6E4"/>
            </a:solidFill>
          </a:ln>
        </p:spPr>
      </p:pic>
      <p:sp>
        <p:nvSpPr>
          <p:cNvPr id="224299964" name="Rounded Rectangle 224299963"/>
          <p:cNvSpPr/>
          <p:nvPr/>
        </p:nvSpPr>
        <p:spPr>
          <a:xfrm>
            <a:off x="9921240" y="3950208"/>
            <a:ext cx="457200" cy="45720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65" name="TextBox 224299964"/>
          <p:cNvSpPr txBox="1"/>
          <p:nvPr/>
        </p:nvSpPr>
        <p:spPr>
          <a:xfrm>
            <a:off x="9921240" y="39502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0053"/>
                </a:solidFill>
                <a:latin typeface="Montserrat"/>
              </a:rPr>
              <a:t>4</a:t>
            </a:r>
          </a:p>
        </p:txBody>
      </p:sp>
      <p:sp>
        <p:nvSpPr>
          <p:cNvPr id="224299966" name="TextBox 224299965"/>
          <p:cNvSpPr txBox="1"/>
          <p:nvPr/>
        </p:nvSpPr>
        <p:spPr>
          <a:xfrm>
            <a:off x="9921240" y="4544568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10F53"/>
                </a:solidFill>
                <a:latin typeface="Montserrat"/>
              </a:rPr>
              <a:t>Оповещение служб</a:t>
            </a:r>
          </a:p>
        </p:txBody>
      </p:sp>
      <p:sp>
        <p:nvSpPr>
          <p:cNvPr id="224299967" name="TextBox 224299966"/>
          <p:cNvSpPr txBox="1"/>
          <p:nvPr/>
        </p:nvSpPr>
        <p:spPr>
          <a:xfrm>
            <a:off x="9921240" y="5138928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E556E"/>
                </a:solidFill>
                <a:latin typeface="Montserrat"/>
              </a:rPr>
              <a:t>Список подобран автоматически, одно действие</a:t>
            </a:r>
          </a:p>
        </p:txBody>
      </p:sp>
      <p:sp>
        <p:nvSpPr>
          <p:cNvPr id="224299968" name="TextBox 224299967"/>
          <p:cNvSpPr txBox="1"/>
          <p:nvPr/>
        </p:nvSpPr>
        <p:spPr>
          <a:xfrm>
            <a:off x="411480" y="62179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1">
                <a:solidFill>
                  <a:srgbClr val="FFD6E4"/>
                </a:solidFill>
                <a:latin typeface="Montserrat"/>
              </a:rPr>
              <a:t>Отправленная карточка фиксируется неизменяемым снимком — именно по нему считается оценка.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24016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59240170" name="Rounded Rectangle 859240169"/>
          <p:cNvSpPr/>
          <p:nvPr/>
        </p:nvSpPr>
        <p:spPr>
          <a:xfrm>
            <a:off x="347472" y="320040"/>
            <a:ext cx="2464308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1" name="TextBox 859240170"/>
          <p:cNvSpPr txBox="1"/>
          <p:nvPr/>
        </p:nvSpPr>
        <p:spPr>
          <a:xfrm>
            <a:off x="347472" y="320040"/>
            <a:ext cx="24643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ДИСПЕТЧЕР ДДС</a:t>
            </a:r>
          </a:p>
        </p:txBody>
      </p:sp>
      <p:pic>
        <p:nvPicPr>
          <p:cNvPr id="859240172" name="Picture 859240171" descr="c-dds-incom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6400800" cy="3392424"/>
          </a:xfrm>
          <a:prstGeom prst="roundRect">
            <a:avLst>
              <a:gd name="adj" fmla="val 3500"/>
            </a:avLst>
          </a:prstGeom>
          <a:ln w="12700">
            <a:solidFill>
              <a:srgbClr val="FFD6E4"/>
            </a:solidFill>
          </a:ln>
          <a:effectLst>
            <a:outerShdw blurRad="279400" dist="76200" dir="5400000" algn="t" rotWithShape="0">
              <a:srgbClr val="1C0A33">
                <a:alpha val="30000"/>
              </a:srgbClr>
            </a:outerShdw>
          </a:effectLst>
        </p:spPr>
      </p:pic>
      <p:sp>
        <p:nvSpPr>
          <p:cNvPr id="859240173" name="TextBox 859240172"/>
          <p:cNvSpPr txBox="1"/>
          <p:nvPr/>
        </p:nvSpPr>
        <p:spPr>
          <a:xfrm>
            <a:off x="411480" y="4892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1">
                <a:solidFill>
                  <a:srgbClr val="5E556E"/>
                </a:solidFill>
                <a:latin typeface="Montserrat"/>
              </a:rPr>
              <a:t>Карточка ДДС: входящий звонок бригады, встроенный телефон, журнал связи</a:t>
            </a:r>
          </a:p>
        </p:txBody>
      </p:sp>
      <p:sp>
        <p:nvSpPr>
          <p:cNvPr id="859240174" name="Rounded Rectangle 859240173"/>
          <p:cNvSpPr/>
          <p:nvPr/>
        </p:nvSpPr>
        <p:spPr>
          <a:xfrm>
            <a:off x="7178040" y="1188720"/>
            <a:ext cx="502920" cy="50292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5" name="TextBox 859240174"/>
          <p:cNvSpPr txBox="1"/>
          <p:nvPr/>
        </p:nvSpPr>
        <p:spPr>
          <a:xfrm>
            <a:off x="7178040" y="11887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0053"/>
                </a:solidFill>
                <a:latin typeface="Montserrat"/>
              </a:rPr>
              <a:t>1</a:t>
            </a:r>
          </a:p>
        </p:txBody>
      </p:sp>
      <p:sp>
        <p:nvSpPr>
          <p:cNvPr id="859240176" name="TextBox 859240175"/>
          <p:cNvSpPr txBox="1"/>
          <p:nvPr/>
        </p:nvSpPr>
        <p:spPr>
          <a:xfrm>
            <a:off x="7863840" y="1161288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10F53"/>
                </a:solidFill>
                <a:latin typeface="Montserrat"/>
              </a:rPr>
              <a:t>Решение за 30 секунд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556E"/>
                </a:solidFill>
                <a:latin typeface="Montserrat"/>
              </a:rPr>
              <a:t>«Принята» или «Не принята» — с комментарием</a:t>
            </a:r>
          </a:p>
        </p:txBody>
      </p:sp>
      <p:sp>
        <p:nvSpPr>
          <p:cNvPr id="859240177" name="Rounded Rectangle 859240176"/>
          <p:cNvSpPr/>
          <p:nvPr/>
        </p:nvSpPr>
        <p:spPr>
          <a:xfrm>
            <a:off x="7178040" y="2011680"/>
            <a:ext cx="502920" cy="50292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8" name="TextBox 859240177"/>
          <p:cNvSpPr txBox="1"/>
          <p:nvPr/>
        </p:nvSpPr>
        <p:spPr>
          <a:xfrm>
            <a:off x="7178040" y="20116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0053"/>
                </a:solidFill>
                <a:latin typeface="Montserrat"/>
              </a:rPr>
              <a:t>2</a:t>
            </a:r>
          </a:p>
        </p:txBody>
      </p:sp>
      <p:sp>
        <p:nvSpPr>
          <p:cNvPr id="859240179" name="TextBox 859240178"/>
          <p:cNvSpPr txBox="1"/>
          <p:nvPr/>
        </p:nvSpPr>
        <p:spPr>
          <a:xfrm>
            <a:off x="7863840" y="1984248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10F53"/>
                </a:solidFill>
                <a:latin typeface="Montserrat"/>
              </a:rPr>
              <a:t>Звонок бригаде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556E"/>
                </a:solidFill>
                <a:latin typeface="Montserrat"/>
              </a:rPr>
              <a:t>со встроенного телефона, без SIP и гарнитур</a:t>
            </a:r>
          </a:p>
        </p:txBody>
      </p:sp>
      <p:sp>
        <p:nvSpPr>
          <p:cNvPr id="859240180" name="Rounded Rectangle 859240179"/>
          <p:cNvSpPr/>
          <p:nvPr/>
        </p:nvSpPr>
        <p:spPr>
          <a:xfrm>
            <a:off x="7178040" y="2834640"/>
            <a:ext cx="502920" cy="50292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1" name="TextBox 859240180"/>
          <p:cNvSpPr txBox="1"/>
          <p:nvPr/>
        </p:nvSpPr>
        <p:spPr>
          <a:xfrm>
            <a:off x="7178040" y="28346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0053"/>
                </a:solidFill>
                <a:latin typeface="Montserrat"/>
              </a:rPr>
              <a:t>3</a:t>
            </a:r>
          </a:p>
        </p:txBody>
      </p:sp>
      <p:sp>
        <p:nvSpPr>
          <p:cNvPr id="859240182" name="TextBox 859240181"/>
          <p:cNvSpPr txBox="1"/>
          <p:nvPr/>
        </p:nvSpPr>
        <p:spPr>
          <a:xfrm>
            <a:off x="7863840" y="2807208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10F53"/>
                </a:solidFill>
                <a:latin typeface="Montserrat"/>
              </a:rPr>
              <a:t>Доклады и входящие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556E"/>
                </a:solidFill>
                <a:latin typeface="Montserrat"/>
              </a:rPr>
              <a:t>приходят по таймлайну сценария</a:t>
            </a:r>
          </a:p>
        </p:txBody>
      </p:sp>
      <p:sp>
        <p:nvSpPr>
          <p:cNvPr id="859240183" name="Rounded Rectangle 859240182"/>
          <p:cNvSpPr/>
          <p:nvPr/>
        </p:nvSpPr>
        <p:spPr>
          <a:xfrm>
            <a:off x="7178040" y="3657600"/>
            <a:ext cx="502920" cy="50292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4" name="TextBox 859240183"/>
          <p:cNvSpPr txBox="1"/>
          <p:nvPr/>
        </p:nvSpPr>
        <p:spPr>
          <a:xfrm>
            <a:off x="7178040" y="3657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0053"/>
                </a:solidFill>
                <a:latin typeface="Montserrat"/>
              </a:rPr>
              <a:t>4</a:t>
            </a:r>
          </a:p>
        </p:txBody>
      </p:sp>
      <p:sp>
        <p:nvSpPr>
          <p:cNvPr id="859240185" name="TextBox 859240184"/>
          <p:cNvSpPr txBox="1"/>
          <p:nvPr/>
        </p:nvSpPr>
        <p:spPr>
          <a:xfrm>
            <a:off x="7863840" y="3630168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10F53"/>
                </a:solidFill>
                <a:latin typeface="Montserrat"/>
              </a:rPr>
              <a:t>Статусы «карандашом»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556E"/>
                </a:solidFill>
                <a:latin typeface="Montserrat"/>
              </a:rPr>
              <a:t>Начало реагирования → Прибытие → Проведение работ</a:t>
            </a:r>
          </a:p>
        </p:txBody>
      </p:sp>
      <p:sp>
        <p:nvSpPr>
          <p:cNvPr id="859240186" name="Rounded Rectangle 859240185"/>
          <p:cNvSpPr/>
          <p:nvPr/>
        </p:nvSpPr>
        <p:spPr>
          <a:xfrm>
            <a:off x="7178040" y="4480560"/>
            <a:ext cx="502920" cy="50292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7" name="TextBox 859240186"/>
          <p:cNvSpPr txBox="1"/>
          <p:nvPr/>
        </p:nvSpPr>
        <p:spPr>
          <a:xfrm>
            <a:off x="7178040" y="44805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0053"/>
                </a:solidFill>
                <a:latin typeface="Montserrat"/>
              </a:rPr>
              <a:t>5</a:t>
            </a:r>
          </a:p>
        </p:txBody>
      </p:sp>
      <p:sp>
        <p:nvSpPr>
          <p:cNvPr id="859240188" name="TextBox 859240187"/>
          <p:cNvSpPr txBox="1"/>
          <p:nvPr/>
        </p:nvSpPr>
        <p:spPr>
          <a:xfrm>
            <a:off x="7863840" y="4453128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10F53"/>
                </a:solidFill>
                <a:latin typeface="Montserrat"/>
              </a:rPr>
              <a:t>Закрытие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E556E"/>
                </a:solidFill>
                <a:latin typeface="Montserrat"/>
              </a:rPr>
              <a:t>финальный статус закрывает карточку</a:t>
            </a:r>
          </a:p>
        </p:txBody>
      </p:sp>
      <p:sp>
        <p:nvSpPr>
          <p:cNvPr id="859240189" name="Rounded Rectangle 859240188"/>
          <p:cNvSpPr/>
          <p:nvPr/>
        </p:nvSpPr>
        <p:spPr>
          <a:xfrm>
            <a:off x="411480" y="5486400"/>
            <a:ext cx="1138428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90" name="TextBox 859240189"/>
          <p:cNvSpPr txBox="1"/>
          <p:nvPr/>
        </p:nvSpPr>
        <p:spPr>
          <a:xfrm>
            <a:off x="685800" y="54864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520978"/>
                </a:solidFill>
                <a:latin typeface="Montserrat"/>
              </a:rPr>
              <a:t>Цикл реагирования построен по памятке ДДС заказчика: ДДС района и ДДС скорой медицинской помощи (03).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24299942" name="Rounded Rectangle 224299941"/>
          <p:cNvSpPr/>
          <p:nvPr/>
        </p:nvSpPr>
        <p:spPr>
          <a:xfrm>
            <a:off x="347472" y="320040"/>
            <a:ext cx="3520440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3" name="TextBox 224299942"/>
          <p:cNvSpPr txBox="1"/>
          <p:nvPr/>
        </p:nvSpPr>
        <p:spPr>
          <a:xfrm>
            <a:off x="347472" y="320040"/>
            <a:ext cx="3520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РАЗНООБРАЗИЕ СЛУЧАЕВ</a:t>
            </a:r>
          </a:p>
        </p:txBody>
      </p:sp>
      <p:sp>
        <p:nvSpPr>
          <p:cNvPr id="224299944" name="Rounded Rectangle 224299943"/>
          <p:cNvSpPr/>
          <p:nvPr/>
        </p:nvSpPr>
        <p:spPr>
          <a:xfrm>
            <a:off x="411480" y="1234440"/>
            <a:ext cx="268833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5" name="TextBox 224299944"/>
          <p:cNvSpPr txBox="1"/>
          <p:nvPr/>
        </p:nvSpPr>
        <p:spPr>
          <a:xfrm>
            <a:off x="640080" y="13258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 i="0">
                <a:solidFill>
                  <a:srgbClr val="FF0053"/>
                </a:solidFill>
                <a:latin typeface="Montserrat"/>
              </a:rPr>
              <a:t>30</a:t>
            </a:r>
          </a:p>
        </p:txBody>
      </p:sp>
      <p:sp>
        <p:nvSpPr>
          <p:cNvPr id="224299946" name="TextBox 224299945"/>
          <p:cNvSpPr txBox="1"/>
          <p:nvPr/>
        </p:nvSpPr>
        <p:spPr>
          <a:xfrm>
            <a:off x="640080" y="214884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10F53"/>
                </a:solidFill>
                <a:latin typeface="Montserrat"/>
              </a:rPr>
              <a:t>готовых сценариев
в каталоге</a:t>
            </a:r>
          </a:p>
        </p:txBody>
      </p:sp>
      <p:sp>
        <p:nvSpPr>
          <p:cNvPr id="224299947" name="Rounded Rectangle 224299946"/>
          <p:cNvSpPr/>
          <p:nvPr/>
        </p:nvSpPr>
        <p:spPr>
          <a:xfrm>
            <a:off x="3282696" y="1234440"/>
            <a:ext cx="268833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8" name="TextBox 224299947"/>
          <p:cNvSpPr txBox="1"/>
          <p:nvPr/>
        </p:nvSpPr>
        <p:spPr>
          <a:xfrm>
            <a:off x="3511296" y="13258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 i="0">
                <a:solidFill>
                  <a:srgbClr val="FF0053"/>
                </a:solidFill>
                <a:latin typeface="Montserrat"/>
              </a:rPr>
              <a:t>14</a:t>
            </a:r>
          </a:p>
        </p:txBody>
      </p:sp>
      <p:sp>
        <p:nvSpPr>
          <p:cNvPr id="224299949" name="TextBox 224299948"/>
          <p:cNvSpPr txBox="1"/>
          <p:nvPr/>
        </p:nvSpPr>
        <p:spPr>
          <a:xfrm>
            <a:off x="3511296" y="214884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10F53"/>
                </a:solidFill>
                <a:latin typeface="Montserrat"/>
              </a:rPr>
              <a:t>для оператора 112
с ИИ-заявителем</a:t>
            </a:r>
          </a:p>
        </p:txBody>
      </p:sp>
      <p:sp>
        <p:nvSpPr>
          <p:cNvPr id="224299950" name="Rounded Rectangle 224299949"/>
          <p:cNvSpPr/>
          <p:nvPr/>
        </p:nvSpPr>
        <p:spPr>
          <a:xfrm>
            <a:off x="6153912" y="1234440"/>
            <a:ext cx="268833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1" name="TextBox 224299950"/>
          <p:cNvSpPr txBox="1"/>
          <p:nvPr/>
        </p:nvSpPr>
        <p:spPr>
          <a:xfrm>
            <a:off x="6382512" y="13258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 i="0">
                <a:solidFill>
                  <a:srgbClr val="FF0053"/>
                </a:solidFill>
                <a:latin typeface="Montserrat"/>
              </a:rPr>
              <a:t>16</a:t>
            </a:r>
          </a:p>
        </p:txBody>
      </p:sp>
      <p:sp>
        <p:nvSpPr>
          <p:cNvPr id="224299952" name="TextBox 224299951"/>
          <p:cNvSpPr txBox="1"/>
          <p:nvPr/>
        </p:nvSpPr>
        <p:spPr>
          <a:xfrm>
            <a:off x="6382512" y="214884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10F53"/>
                </a:solidFill>
                <a:latin typeface="Montserrat"/>
              </a:rPr>
              <a:t>для ДДС района
и скорой (03)</a:t>
            </a:r>
          </a:p>
        </p:txBody>
      </p:sp>
      <p:sp>
        <p:nvSpPr>
          <p:cNvPr id="224299953" name="Rounded Rectangle 224299952"/>
          <p:cNvSpPr/>
          <p:nvPr/>
        </p:nvSpPr>
        <p:spPr>
          <a:xfrm>
            <a:off x="9025128" y="1234440"/>
            <a:ext cx="268833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4" name="TextBox 224299953"/>
          <p:cNvSpPr txBox="1"/>
          <p:nvPr/>
        </p:nvSpPr>
        <p:spPr>
          <a:xfrm>
            <a:off x="9253728" y="13258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 i="0">
                <a:solidFill>
                  <a:srgbClr val="FF0053"/>
                </a:solidFill>
                <a:latin typeface="Montserrat"/>
              </a:rPr>
              <a:t>∞</a:t>
            </a:r>
          </a:p>
        </p:txBody>
      </p:sp>
      <p:sp>
        <p:nvSpPr>
          <p:cNvPr id="224299955" name="TextBox 224299954"/>
          <p:cNvSpPr txBox="1"/>
          <p:nvPr/>
        </p:nvSpPr>
        <p:spPr>
          <a:xfrm>
            <a:off x="9253728" y="214884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10F53"/>
                </a:solidFill>
                <a:latin typeface="Montserrat"/>
              </a:rPr>
              <a:t>разговоров: каждый
диалог уникален</a:t>
            </a:r>
          </a:p>
        </p:txBody>
      </p:sp>
      <p:sp>
        <p:nvSpPr>
          <p:cNvPr id="224299956" name="TextBox 224299955"/>
          <p:cNvSpPr txBox="1"/>
          <p:nvPr/>
        </p:nvSpPr>
        <p:spPr>
          <a:xfrm>
            <a:off x="411480" y="3108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>
                <a:solidFill>
                  <a:srgbClr val="FFD6E4"/>
                </a:solidFill>
                <a:latin typeface="Montserrat"/>
              </a:rPr>
              <a:t>ПОЖАРЫ · ГАЗ · ДТП И ТРАНСПОРТ · ТРАВМЫ · КОММУНАЛЬНЫЕ АВАРИИ · «ЧУЖАЯ ТЕРРИТОРИЯ»</a:t>
            </a:r>
          </a:p>
        </p:txBody>
      </p:sp>
      <p:sp>
        <p:nvSpPr>
          <p:cNvPr id="224299957" name="Rounded Rectangle 224299956"/>
          <p:cNvSpPr/>
          <p:nvPr/>
        </p:nvSpPr>
        <p:spPr>
          <a:xfrm>
            <a:off x="411480" y="361188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8" name="TextBox 224299957"/>
          <p:cNvSpPr txBox="1"/>
          <p:nvPr/>
        </p:nvSpPr>
        <p:spPr>
          <a:xfrm>
            <a:off x="411480" y="3611880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Пожар в клинике, женщине плохо от дыма</a:t>
            </a:r>
          </a:p>
        </p:txBody>
      </p:sp>
      <p:sp>
        <p:nvSpPr>
          <p:cNvPr id="224299959" name="Rounded Rectangle 224299958"/>
          <p:cNvSpPr/>
          <p:nvPr/>
        </p:nvSpPr>
        <p:spPr>
          <a:xfrm>
            <a:off x="4471416" y="361188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60" name="TextBox 224299959"/>
          <p:cNvSpPr txBox="1"/>
          <p:nvPr/>
        </p:nvSpPr>
        <p:spPr>
          <a:xfrm>
            <a:off x="4471416" y="361188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Горит электробус у ВДНХ</a:t>
            </a:r>
          </a:p>
        </p:txBody>
      </p:sp>
      <p:sp>
        <p:nvSpPr>
          <p:cNvPr id="224299961" name="Rounded Rectangle 224299960"/>
          <p:cNvSpPr/>
          <p:nvPr/>
        </p:nvSpPr>
        <p:spPr>
          <a:xfrm>
            <a:off x="7159752" y="3611880"/>
            <a:ext cx="3749039" cy="384048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62" name="TextBox 224299961"/>
          <p:cNvSpPr txBox="1"/>
          <p:nvPr/>
        </p:nvSpPr>
        <p:spPr>
          <a:xfrm>
            <a:off x="7159752" y="361188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Запах газа на кухне, дети в квартире</a:t>
            </a:r>
          </a:p>
        </p:txBody>
      </p:sp>
      <p:sp>
        <p:nvSpPr>
          <p:cNvPr id="224299963" name="Rounded Rectangle 224299962"/>
          <p:cNvSpPr/>
          <p:nvPr/>
        </p:nvSpPr>
        <p:spPr>
          <a:xfrm>
            <a:off x="411480" y="411480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64" name="TextBox 224299963"/>
          <p:cNvSpPr txBox="1"/>
          <p:nvPr/>
        </p:nvSpPr>
        <p:spPr>
          <a:xfrm>
            <a:off x="411480" y="411480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Газ у тоннеля метро «Римская»</a:t>
            </a:r>
          </a:p>
        </p:txBody>
      </p:sp>
      <p:sp>
        <p:nvSpPr>
          <p:cNvPr id="224299965" name="Rounded Rectangle 224299964"/>
          <p:cNvSpPr/>
          <p:nvPr/>
        </p:nvSpPr>
        <p:spPr>
          <a:xfrm>
            <a:off x="3648456" y="411480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66" name="TextBox 224299965"/>
          <p:cNvSpPr txBox="1"/>
          <p:nvPr/>
        </p:nvSpPr>
        <p:spPr>
          <a:xfrm>
            <a:off x="3648456" y="411480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Ожоги у рабочих хлебозавода</a:t>
            </a:r>
          </a:p>
        </p:txBody>
      </p:sp>
      <p:sp>
        <p:nvSpPr>
          <p:cNvPr id="224299967" name="Rounded Rectangle 224299966"/>
          <p:cNvSpPr/>
          <p:nvPr/>
        </p:nvSpPr>
        <p:spPr>
          <a:xfrm>
            <a:off x="6702552" y="411480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68" name="TextBox 224299967"/>
          <p:cNvSpPr txBox="1"/>
          <p:nvPr/>
        </p:nvSpPr>
        <p:spPr>
          <a:xfrm>
            <a:off x="6702552" y="411480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Ребёнку попали палкой в глаз</a:t>
            </a:r>
          </a:p>
        </p:txBody>
      </p:sp>
      <p:sp>
        <p:nvSpPr>
          <p:cNvPr id="224299969" name="Rounded Rectangle 224299968"/>
          <p:cNvSpPr/>
          <p:nvPr/>
        </p:nvSpPr>
        <p:spPr>
          <a:xfrm>
            <a:off x="411480" y="46177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70" name="TextBox 224299969"/>
          <p:cNvSpPr txBox="1"/>
          <p:nvPr/>
        </p:nvSpPr>
        <p:spPr>
          <a:xfrm>
            <a:off x="411480" y="46177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Порез коньком, кровотечение</a:t>
            </a:r>
          </a:p>
        </p:txBody>
      </p:sp>
      <p:sp>
        <p:nvSpPr>
          <p:cNvPr id="224299971" name="Rounded Rectangle 224299970"/>
          <p:cNvSpPr/>
          <p:nvPr/>
        </p:nvSpPr>
        <p:spPr>
          <a:xfrm>
            <a:off x="3465576" y="46177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72" name="TextBox 224299971"/>
          <p:cNvSpPr txBox="1"/>
          <p:nvPr/>
        </p:nvSpPr>
        <p:spPr>
          <a:xfrm>
            <a:off x="3465576" y="461772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Автомобиль упал в воду</a:t>
            </a:r>
          </a:p>
        </p:txBody>
      </p:sp>
      <p:sp>
        <p:nvSpPr>
          <p:cNvPr id="224299973" name="Rounded Rectangle 224299972"/>
          <p:cNvSpPr/>
          <p:nvPr/>
        </p:nvSpPr>
        <p:spPr>
          <a:xfrm>
            <a:off x="6062472" y="461772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74" name="TextBox 224299973"/>
          <p:cNvSpPr txBox="1"/>
          <p:nvPr/>
        </p:nvSpPr>
        <p:spPr>
          <a:xfrm>
            <a:off x="6062472" y="461772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Горит Toyota, ожоги водителя</a:t>
            </a:r>
          </a:p>
        </p:txBody>
      </p:sp>
      <p:sp>
        <p:nvSpPr>
          <p:cNvPr id="224299975" name="Rounded Rectangle 224299974"/>
          <p:cNvSpPr/>
          <p:nvPr/>
        </p:nvSpPr>
        <p:spPr>
          <a:xfrm>
            <a:off x="9208008" y="461772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76" name="TextBox 224299975"/>
          <p:cNvSpPr txBox="1"/>
          <p:nvPr/>
        </p:nvSpPr>
        <p:spPr>
          <a:xfrm>
            <a:off x="9208008" y="461772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Конфликт в салоне связи</a:t>
            </a:r>
          </a:p>
        </p:txBody>
      </p:sp>
      <p:sp>
        <p:nvSpPr>
          <p:cNvPr id="224299977" name="Rounded Rectangle 224299976"/>
          <p:cNvSpPr/>
          <p:nvPr/>
        </p:nvSpPr>
        <p:spPr>
          <a:xfrm>
            <a:off x="411480" y="512064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78" name="TextBox 224299977"/>
          <p:cNvSpPr txBox="1"/>
          <p:nvPr/>
        </p:nvSpPr>
        <p:spPr>
          <a:xfrm>
            <a:off x="411480" y="512064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Дерево перекрыло проезд</a:t>
            </a:r>
          </a:p>
        </p:txBody>
      </p:sp>
      <p:sp>
        <p:nvSpPr>
          <p:cNvPr id="224299979" name="Rounded Rectangle 224299978"/>
          <p:cNvSpPr/>
          <p:nvPr/>
        </p:nvSpPr>
        <p:spPr>
          <a:xfrm>
            <a:off x="3099816" y="512064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80" name="TextBox 224299979"/>
          <p:cNvSpPr txBox="1"/>
          <p:nvPr/>
        </p:nvSpPr>
        <p:spPr>
          <a:xfrm>
            <a:off x="3099816" y="5120640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Прорыв трубы в подъезде</a:t>
            </a:r>
          </a:p>
        </p:txBody>
      </p:sp>
      <p:sp>
        <p:nvSpPr>
          <p:cNvPr id="224299981" name="Rounded Rectangle 224299980"/>
          <p:cNvSpPr/>
          <p:nvPr/>
        </p:nvSpPr>
        <p:spPr>
          <a:xfrm>
            <a:off x="5788152" y="512064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82" name="TextBox 224299981"/>
          <p:cNvSpPr txBox="1"/>
          <p:nvPr/>
        </p:nvSpPr>
        <p:spPr>
          <a:xfrm>
            <a:off x="5788152" y="512064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Ложная пожарная сигнализация</a:t>
            </a:r>
          </a:p>
        </p:txBody>
      </p:sp>
      <p:sp>
        <p:nvSpPr>
          <p:cNvPr id="224299983" name="Rounded Rectangle 224299982"/>
          <p:cNvSpPr/>
          <p:nvPr/>
        </p:nvSpPr>
        <p:spPr>
          <a:xfrm>
            <a:off x="8933688" y="51206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84" name="TextBox 224299983"/>
          <p:cNvSpPr txBox="1"/>
          <p:nvPr/>
        </p:nvSpPr>
        <p:spPr>
          <a:xfrm>
            <a:off x="8933688" y="512064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Чужая территория — отказ</a:t>
            </a:r>
          </a:p>
        </p:txBody>
      </p:sp>
      <p:sp>
        <p:nvSpPr>
          <p:cNvPr id="224299985" name="Rounded Rectangle 224299984"/>
          <p:cNvSpPr/>
          <p:nvPr/>
        </p:nvSpPr>
        <p:spPr>
          <a:xfrm>
            <a:off x="411480" y="5623559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86" name="TextBox 224299985"/>
          <p:cNvSpPr txBox="1"/>
          <p:nvPr/>
        </p:nvSpPr>
        <p:spPr>
          <a:xfrm>
            <a:off x="411480" y="5623559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 i="0">
                <a:solidFill>
                  <a:srgbClr val="FFFFFF"/>
                </a:solidFill>
                <a:latin typeface="Montserrat"/>
              </a:rPr>
              <a:t>Горит урна у перехода</a:t>
            </a:r>
          </a:p>
        </p:txBody>
      </p:sp>
      <p:sp>
        <p:nvSpPr>
          <p:cNvPr id="224299987" name="TextBox 224299986"/>
          <p:cNvSpPr txBox="1"/>
          <p:nvPr/>
        </p:nvSpPr>
        <p:spPr>
          <a:xfrm>
            <a:off x="411480" y="6144768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1">
                <a:solidFill>
                  <a:srgbClr val="FFD6E4"/>
                </a:solidFill>
                <a:latin typeface="Montserrat"/>
              </a:rPr>
              <a:t>Сценарии построены по памяткам и инструкциям заказчика; каждая версия неизменна и хранит свой эталон.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24016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59240170" name="Rounded Rectangle 859240169"/>
          <p:cNvSpPr/>
          <p:nvPr/>
        </p:nvSpPr>
        <p:spPr>
          <a:xfrm>
            <a:off x="347472" y="320040"/>
            <a:ext cx="2916936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1" name="TextBox 859240170"/>
          <p:cNvSpPr txBox="1"/>
          <p:nvPr/>
        </p:nvSpPr>
        <p:spPr>
          <a:xfrm>
            <a:off x="347472" y="320040"/>
            <a:ext cx="291693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УРОВНИ СЛОЖНОСТИ</a:t>
            </a:r>
          </a:p>
        </p:txBody>
      </p:sp>
      <p:sp>
        <p:nvSpPr>
          <p:cNvPr id="859240172" name="Rounded Rectangle 859240171"/>
          <p:cNvSpPr/>
          <p:nvPr/>
        </p:nvSpPr>
        <p:spPr>
          <a:xfrm>
            <a:off x="411480" y="1188720"/>
            <a:ext cx="361188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3" name="Rounded Rectangle 859240172"/>
          <p:cNvSpPr/>
          <p:nvPr/>
        </p:nvSpPr>
        <p:spPr>
          <a:xfrm>
            <a:off x="685800" y="14447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4" name="Rounded Rectangle 859240173"/>
          <p:cNvSpPr/>
          <p:nvPr/>
        </p:nvSpPr>
        <p:spPr>
          <a:xfrm>
            <a:off x="978408" y="14447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5" name="Rounded Rectangle 859240174"/>
          <p:cNvSpPr/>
          <p:nvPr/>
        </p:nvSpPr>
        <p:spPr>
          <a:xfrm>
            <a:off x="1271016" y="14447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6" name="TextBox 859240175"/>
          <p:cNvSpPr txBox="1"/>
          <p:nvPr/>
        </p:nvSpPr>
        <p:spPr>
          <a:xfrm>
            <a:off x="1691639" y="1371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5E556E"/>
                </a:solidFill>
                <a:latin typeface="Montserrat"/>
              </a:rPr>
              <a:t>СЛОЖНОСТЬ 1–3</a:t>
            </a:r>
          </a:p>
        </p:txBody>
      </p:sp>
      <p:sp>
        <p:nvSpPr>
          <p:cNvPr id="859240177" name="TextBox 859240176"/>
          <p:cNvSpPr txBox="1"/>
          <p:nvPr/>
        </p:nvSpPr>
        <p:spPr>
          <a:xfrm>
            <a:off x="685800" y="181051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310F53"/>
                </a:solidFill>
                <a:latin typeface="Montserrat"/>
              </a:rPr>
              <a:t>Лёгкий</a:t>
            </a:r>
          </a:p>
        </p:txBody>
      </p:sp>
      <p:sp>
        <p:nvSpPr>
          <p:cNvPr id="859240178" name="TextBox 859240177"/>
          <p:cNvSpPr txBox="1"/>
          <p:nvPr/>
        </p:nvSpPr>
        <p:spPr>
          <a:xfrm>
            <a:off x="685800" y="2267712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E556E"/>
                </a:solidFill>
                <a:latin typeface="Montserrat"/>
              </a:rPr>
              <a:t>Одна карточка за раз, типовые случаи, полный цикл реагирования.</a:t>
            </a:r>
          </a:p>
        </p:txBody>
      </p:sp>
      <p:sp>
        <p:nvSpPr>
          <p:cNvPr id="859240179" name="Rounded Rectangle 859240178"/>
          <p:cNvSpPr/>
          <p:nvPr/>
        </p:nvSpPr>
        <p:spPr>
          <a:xfrm>
            <a:off x="4233672" y="1188720"/>
            <a:ext cx="361188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0" name="Rounded Rectangle 859240179"/>
          <p:cNvSpPr/>
          <p:nvPr/>
        </p:nvSpPr>
        <p:spPr>
          <a:xfrm>
            <a:off x="4507992" y="14447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1" name="Rounded Rectangle 859240180"/>
          <p:cNvSpPr/>
          <p:nvPr/>
        </p:nvSpPr>
        <p:spPr>
          <a:xfrm>
            <a:off x="4800600" y="14447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2" name="Rounded Rectangle 859240181"/>
          <p:cNvSpPr/>
          <p:nvPr/>
        </p:nvSpPr>
        <p:spPr>
          <a:xfrm>
            <a:off x="5093207" y="14447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3" name="TextBox 859240182"/>
          <p:cNvSpPr txBox="1"/>
          <p:nvPr/>
        </p:nvSpPr>
        <p:spPr>
          <a:xfrm>
            <a:off x="5513831" y="1371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5E556E"/>
                </a:solidFill>
                <a:latin typeface="Montserrat"/>
              </a:rPr>
              <a:t>СЛОЖНОСТЬ 4–6</a:t>
            </a:r>
          </a:p>
        </p:txBody>
      </p:sp>
      <p:sp>
        <p:nvSpPr>
          <p:cNvPr id="859240184" name="TextBox 859240183"/>
          <p:cNvSpPr txBox="1"/>
          <p:nvPr/>
        </p:nvSpPr>
        <p:spPr>
          <a:xfrm>
            <a:off x="4507992" y="181051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310F53"/>
                </a:solidFill>
                <a:latin typeface="Montserrat"/>
              </a:rPr>
              <a:t>Средний</a:t>
            </a:r>
          </a:p>
        </p:txBody>
      </p:sp>
      <p:sp>
        <p:nvSpPr>
          <p:cNvPr id="859240185" name="TextBox 859240184"/>
          <p:cNvSpPr txBox="1"/>
          <p:nvPr/>
        </p:nvSpPr>
        <p:spPr>
          <a:xfrm>
            <a:off x="4507992" y="2267712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E556E"/>
                </a:solidFill>
                <a:latin typeface="Montserrat"/>
              </a:rPr>
              <a:t>Больше уточнений и участников: пострадавшие, звонки отдела контроля.</a:t>
            </a:r>
          </a:p>
        </p:txBody>
      </p:sp>
      <p:sp>
        <p:nvSpPr>
          <p:cNvPr id="859240186" name="Rounded Rectangle 859240185"/>
          <p:cNvSpPr/>
          <p:nvPr/>
        </p:nvSpPr>
        <p:spPr>
          <a:xfrm>
            <a:off x="8055863" y="1188720"/>
            <a:ext cx="3611880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7" name="Rounded Rectangle 859240186"/>
          <p:cNvSpPr/>
          <p:nvPr/>
        </p:nvSpPr>
        <p:spPr>
          <a:xfrm>
            <a:off x="8330183" y="14447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8" name="Rounded Rectangle 859240187"/>
          <p:cNvSpPr/>
          <p:nvPr/>
        </p:nvSpPr>
        <p:spPr>
          <a:xfrm>
            <a:off x="8622792" y="14447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9" name="Rounded Rectangle 859240188"/>
          <p:cNvSpPr/>
          <p:nvPr/>
        </p:nvSpPr>
        <p:spPr>
          <a:xfrm>
            <a:off x="8915400" y="144475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90" name="TextBox 859240189"/>
          <p:cNvSpPr txBox="1"/>
          <p:nvPr/>
        </p:nvSpPr>
        <p:spPr>
          <a:xfrm>
            <a:off x="9336024" y="1371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5E556E"/>
                </a:solidFill>
                <a:latin typeface="Montserrat"/>
              </a:rPr>
              <a:t>СЛОЖНОСТЬ 7–10</a:t>
            </a:r>
          </a:p>
        </p:txBody>
      </p:sp>
      <p:sp>
        <p:nvSpPr>
          <p:cNvPr id="859240191" name="TextBox 859240190"/>
          <p:cNvSpPr txBox="1"/>
          <p:nvPr/>
        </p:nvSpPr>
        <p:spPr>
          <a:xfrm>
            <a:off x="8330183" y="181051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310F53"/>
                </a:solidFill>
                <a:latin typeface="Montserrat"/>
              </a:rPr>
              <a:t>Сложный</a:t>
            </a:r>
          </a:p>
        </p:txBody>
      </p:sp>
      <p:sp>
        <p:nvSpPr>
          <p:cNvPr id="859240192" name="TextBox 859240191"/>
          <p:cNvSpPr txBox="1"/>
          <p:nvPr/>
        </p:nvSpPr>
        <p:spPr>
          <a:xfrm>
            <a:off x="8330183" y="2267712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E556E"/>
                </a:solidFill>
                <a:latin typeface="Montserrat"/>
              </a:rPr>
              <a:t>Карточки приходят потоком, пока текущая не закрыта — надо расставлять приоритеты.</a:t>
            </a:r>
          </a:p>
        </p:txBody>
      </p:sp>
      <p:pic>
        <p:nvPicPr>
          <p:cNvPr id="859240193" name="Picture 859240192" descr="c-moni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611880"/>
            <a:ext cx="7498079" cy="1780793"/>
          </a:xfrm>
          <a:prstGeom prst="roundRect">
            <a:avLst>
              <a:gd name="adj" fmla="val 3500"/>
            </a:avLst>
          </a:prstGeom>
          <a:ln w="12700">
            <a:solidFill>
              <a:srgbClr val="FFD6E4"/>
            </a:solidFill>
          </a:ln>
          <a:effectLst>
            <a:outerShdw blurRad="279400" dist="76200" dir="5400000" algn="t" rotWithShape="0">
              <a:srgbClr val="1C0A33">
                <a:alpha val="30000"/>
              </a:srgbClr>
            </a:outerShdw>
          </a:effectLst>
        </p:spPr>
      </p:pic>
      <p:sp>
        <p:nvSpPr>
          <p:cNvPr id="859240194" name="TextBox 859240193"/>
          <p:cNvSpPr txBox="1"/>
          <p:nvPr/>
        </p:nvSpPr>
        <p:spPr>
          <a:xfrm>
            <a:off x="411480" y="54406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1">
                <a:solidFill>
                  <a:srgbClr val="5E556E"/>
                </a:solidFill>
                <a:latin typeface="Montserrat"/>
              </a:rPr>
              <a:t>Уровень «сложный» в мониторе преподавателя: у каждого курсанта по три карточки одновременно</a:t>
            </a:r>
          </a:p>
        </p:txBody>
      </p:sp>
      <p:sp>
        <p:nvSpPr>
          <p:cNvPr id="859240195" name="TextBox 859240194"/>
          <p:cNvSpPr txBox="1"/>
          <p:nvPr/>
        </p:nvSpPr>
        <p:spPr>
          <a:xfrm>
            <a:off x="8229600" y="3611880"/>
            <a:ext cx="361188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0000"/>
              </a:lnSpc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Нормативы времени — на каждое занятие</a:t>
            </a:r>
          </a:p>
          <a:p>
            <a:pPr algn="l" marL="237744" indent="-237744">
              <a:lnSpc>
                <a:spcPct val="110000"/>
              </a:lnSpc>
              <a:spcBef>
                <a:spcPts val="10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Веса критериев и порог зачёта</a:t>
            </a:r>
          </a:p>
          <a:p>
            <a:pPr algn="l" marL="237744" indent="-237744">
              <a:lnSpc>
                <a:spcPct val="110000"/>
              </a:lnSpc>
              <a:spcBef>
                <a:spcPts val="10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0" i="0">
                <a:solidFill>
                  <a:srgbClr val="1C1D22"/>
                </a:solidFill>
                <a:latin typeface="Montserrat"/>
              </a:rPr>
              <a:t>Случайная выдача по разделам классификатора и уровню — без повторов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24299942" name="Rounded Rectangle 224299941"/>
          <p:cNvSpPr/>
          <p:nvPr/>
        </p:nvSpPr>
        <p:spPr>
          <a:xfrm>
            <a:off x="347472" y="320040"/>
            <a:ext cx="3671316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3" name="TextBox 224299942"/>
          <p:cNvSpPr txBox="1"/>
          <p:nvPr/>
        </p:nvSpPr>
        <p:spPr>
          <a:xfrm>
            <a:off x="347472" y="320040"/>
            <a:ext cx="367131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ОЗНАКОМИТЕЛЬНЫЙ РЕЖИМ</a:t>
            </a:r>
          </a:p>
        </p:txBody>
      </p:sp>
      <p:sp>
        <p:nvSpPr>
          <p:cNvPr id="224299944" name="TextBox 224299943"/>
          <p:cNvSpPr txBox="1"/>
          <p:nvPr/>
        </p:nvSpPr>
        <p:spPr>
          <a:xfrm>
            <a:off x="411480" y="114300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Montserrat"/>
              </a:rPr>
              <a:t>Интерфейс осваивается до первой смены</a:t>
            </a:r>
          </a:p>
        </p:txBody>
      </p:sp>
      <p:pic>
        <p:nvPicPr>
          <p:cNvPr id="224299945" name="Picture 224299944" descr="c-tour-112-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94560"/>
            <a:ext cx="6309360" cy="3391281"/>
          </a:xfrm>
          <a:prstGeom prst="roundRect">
            <a:avLst>
              <a:gd name="adj" fmla="val 3500"/>
            </a:avLst>
          </a:prstGeom>
          <a:ln w="19050">
            <a:solidFill>
              <a:srgbClr val="FFFFFF"/>
            </a:solidFill>
          </a:ln>
          <a:effectLst>
            <a:outerShdw blurRad="279400" dist="76200" dir="5400000" algn="t" rotWithShape="0">
              <a:srgbClr val="1C0A33">
                <a:alpha val="30000"/>
              </a:srgbClr>
            </a:outerShdw>
          </a:effectLst>
        </p:spPr>
      </p:pic>
      <p:pic>
        <p:nvPicPr>
          <p:cNvPr id="224299946" name="Picture 224299945" descr="c-tour-dds-c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188720"/>
            <a:ext cx="4754880" cy="2555748"/>
          </a:xfrm>
          <a:prstGeom prst="roundRect">
            <a:avLst>
              <a:gd name="adj" fmla="val 3500"/>
            </a:avLst>
          </a:prstGeom>
          <a:ln w="19050">
            <a:solidFill>
              <a:srgbClr val="FFFFFF"/>
            </a:solidFill>
          </a:ln>
          <a:effectLst>
            <a:outerShdw blurRad="279400" dist="76200" dir="5400000" algn="t" rotWithShape="0">
              <a:srgbClr val="1C0A33">
                <a:alpha val="30000"/>
              </a:srgbClr>
            </a:outerShdw>
          </a:effectLst>
        </p:spPr>
      </p:pic>
      <p:pic>
        <p:nvPicPr>
          <p:cNvPr id="224299947" name="Picture 224299946" descr="c-tour-112-ma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3931920"/>
            <a:ext cx="4754880" cy="1545336"/>
          </a:xfrm>
          <a:prstGeom prst="roundRect">
            <a:avLst>
              <a:gd name="adj" fmla="val 3500"/>
            </a:avLst>
          </a:prstGeom>
          <a:ln w="19050">
            <a:solidFill>
              <a:srgbClr val="FFFFFF"/>
            </a:solidFill>
          </a:ln>
          <a:effectLst>
            <a:outerShdw blurRad="279400" dist="76200" dir="5400000" algn="t" rotWithShape="0">
              <a:srgbClr val="1C0A33">
                <a:alpha val="30000"/>
              </a:srgbClr>
            </a:outerShdw>
          </a:effectLst>
        </p:spPr>
      </p:pic>
      <p:sp>
        <p:nvSpPr>
          <p:cNvPr id="224299948" name="TextBox 224299947"/>
          <p:cNvSpPr txBox="1"/>
          <p:nvPr/>
        </p:nvSpPr>
        <p:spPr>
          <a:xfrm>
            <a:off x="411480" y="5669280"/>
            <a:ext cx="11338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0000"/>
              </a:lnSpc>
              <a:buClr>
                <a:srgbClr val="FF0053"/>
              </a:buClr>
              <a:buSzPct val="110000"/>
              <a:buFont typeface="Arial"/>
              <a:buChar char="•"/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Пошаговые подсказки поверх настоящего рабочего места</a:t>
            </a:r>
            <a:r>
              <a:rPr sz="1300" b="0" i="0">
                <a:solidFill>
                  <a:srgbClr val="FFD6E4"/>
                </a:solidFill>
                <a:latin typeface="Montserrat"/>
              </a:rPr>
              <a:t> — список карточек, карточка 112, карточка ДДС, разговор с заявителем; запускается при первом входе, справочник АРМ-112 в PDF — прямо из интерфейса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24016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59240170" name="Rounded Rectangle 859240169"/>
          <p:cNvSpPr/>
          <p:nvPr/>
        </p:nvSpPr>
        <p:spPr>
          <a:xfrm>
            <a:off x="347472" y="320040"/>
            <a:ext cx="2464308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1" name="TextBox 859240170"/>
          <p:cNvSpPr txBox="1"/>
          <p:nvPr/>
        </p:nvSpPr>
        <p:spPr>
          <a:xfrm>
            <a:off x="347472" y="320040"/>
            <a:ext cx="24643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ПРЕПОДАВАТЕЛЬ</a:t>
            </a:r>
          </a:p>
        </p:txBody>
      </p:sp>
      <p:pic>
        <p:nvPicPr>
          <p:cNvPr id="859240172" name="Picture 859240171" descr="c-catalog-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5440680" cy="3155594"/>
          </a:xfrm>
          <a:prstGeom prst="roundRect">
            <a:avLst>
              <a:gd name="adj" fmla="val 3500"/>
            </a:avLst>
          </a:prstGeom>
          <a:ln w="12700">
            <a:solidFill>
              <a:srgbClr val="FFD6E4"/>
            </a:solidFill>
          </a:ln>
          <a:effectLst>
            <a:outerShdw blurRad="279400" dist="76200" dir="5400000" algn="t" rotWithShape="0">
              <a:srgbClr val="1C0A33">
                <a:alpha val="30000"/>
              </a:srgbClr>
            </a:outerShdw>
          </a:effectLst>
        </p:spPr>
      </p:pic>
      <p:pic>
        <p:nvPicPr>
          <p:cNvPr id="859240173" name="Picture 859240172" descr="c-random-fi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754880"/>
            <a:ext cx="5760720" cy="1123340"/>
          </a:xfrm>
          <a:prstGeom prst="roundRect">
            <a:avLst>
              <a:gd name="adj" fmla="val 3500"/>
            </a:avLst>
          </a:prstGeom>
          <a:ln w="12700">
            <a:solidFill>
              <a:srgbClr val="FFD6E4"/>
            </a:solidFill>
          </a:ln>
          <a:effectLst>
            <a:outerShdw blurRad="279400" dist="76200" dir="5400000" algn="t" rotWithShape="0">
              <a:srgbClr val="1C0A33">
                <a:alpha val="30000"/>
              </a:srgbClr>
            </a:outerShdw>
          </a:effectLst>
        </p:spPr>
      </p:pic>
      <p:sp>
        <p:nvSpPr>
          <p:cNvPr id="859240174" name="TextBox 859240173"/>
          <p:cNvSpPr txBox="1"/>
          <p:nvPr/>
        </p:nvSpPr>
        <p:spPr>
          <a:xfrm>
            <a:off x="411480" y="4507992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1">
                <a:solidFill>
                  <a:srgbClr val="5E556E"/>
                </a:solidFill>
                <a:latin typeface="Montserrat"/>
              </a:rPr>
              <a:t>Случайная выдача: разделы классификатора → разные сценарии каждому РМ</a:t>
            </a:r>
          </a:p>
        </p:txBody>
      </p:sp>
      <p:sp>
        <p:nvSpPr>
          <p:cNvPr id="859240175" name="TextBox 859240174"/>
          <p:cNvSpPr txBox="1"/>
          <p:nvPr/>
        </p:nvSpPr>
        <p:spPr>
          <a:xfrm>
            <a:off x="6537960" y="118872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10F53"/>
                </a:solidFill>
                <a:latin typeface="Montserrat"/>
              </a:rPr>
              <a:t>Занятие собирается за пару минут</a:t>
            </a:r>
          </a:p>
        </p:txBody>
      </p:sp>
      <p:sp>
        <p:nvSpPr>
          <p:cNvPr id="859240176" name="Rounded Rectangle 859240175"/>
          <p:cNvSpPr/>
          <p:nvPr/>
        </p:nvSpPr>
        <p:spPr>
          <a:xfrm>
            <a:off x="6537960" y="2057400"/>
            <a:ext cx="475488" cy="475488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7" name="TextBox 859240176"/>
          <p:cNvSpPr txBox="1"/>
          <p:nvPr/>
        </p:nvSpPr>
        <p:spPr>
          <a:xfrm>
            <a:off x="6537960" y="205740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0053"/>
                </a:solidFill>
                <a:latin typeface="Montserrat"/>
              </a:rPr>
              <a:t>1</a:t>
            </a:r>
          </a:p>
        </p:txBody>
      </p:sp>
      <p:sp>
        <p:nvSpPr>
          <p:cNvPr id="859240178" name="TextBox 859240177"/>
          <p:cNvSpPr txBox="1"/>
          <p:nvPr/>
        </p:nvSpPr>
        <p:spPr>
          <a:xfrm>
            <a:off x="7178040" y="2039112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310F53"/>
                </a:solidFill>
                <a:latin typeface="Montserrat"/>
              </a:rPr>
              <a:t>Каталог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E556E"/>
                </a:solidFill>
                <a:latin typeface="Montserrat"/>
              </a:rPr>
              <a:t>готовые сценарии по службам и сложности</a:t>
            </a:r>
          </a:p>
        </p:txBody>
      </p:sp>
      <p:sp>
        <p:nvSpPr>
          <p:cNvPr id="859240179" name="Rounded Rectangle 859240178"/>
          <p:cNvSpPr/>
          <p:nvPr/>
        </p:nvSpPr>
        <p:spPr>
          <a:xfrm>
            <a:off x="6537960" y="2880360"/>
            <a:ext cx="475488" cy="475488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0" name="TextBox 859240179"/>
          <p:cNvSpPr txBox="1"/>
          <p:nvPr/>
        </p:nvSpPr>
        <p:spPr>
          <a:xfrm>
            <a:off x="6537960" y="288036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0053"/>
                </a:solidFill>
                <a:latin typeface="Montserrat"/>
              </a:rPr>
              <a:t>2</a:t>
            </a:r>
          </a:p>
        </p:txBody>
      </p:sp>
      <p:sp>
        <p:nvSpPr>
          <p:cNvPr id="859240181" name="TextBox 859240180"/>
          <p:cNvSpPr txBox="1"/>
          <p:nvPr/>
        </p:nvSpPr>
        <p:spPr>
          <a:xfrm>
            <a:off x="7178040" y="2862072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310F53"/>
                </a:solidFill>
                <a:latin typeface="Montserrat"/>
              </a:rPr>
              <a:t>Назначение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E556E"/>
                </a:solidFill>
                <a:latin typeface="Montserrat"/>
              </a:rPr>
              <a:t>очередь карточек на каждое рабочее место — вручную или случайно</a:t>
            </a:r>
          </a:p>
        </p:txBody>
      </p:sp>
      <p:sp>
        <p:nvSpPr>
          <p:cNvPr id="859240182" name="Rounded Rectangle 859240181"/>
          <p:cNvSpPr/>
          <p:nvPr/>
        </p:nvSpPr>
        <p:spPr>
          <a:xfrm>
            <a:off x="6537960" y="3703320"/>
            <a:ext cx="475488" cy="475488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3" name="TextBox 859240182"/>
          <p:cNvSpPr txBox="1"/>
          <p:nvPr/>
        </p:nvSpPr>
        <p:spPr>
          <a:xfrm>
            <a:off x="6537960" y="370332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0053"/>
                </a:solidFill>
                <a:latin typeface="Montserrat"/>
              </a:rPr>
              <a:t>3</a:t>
            </a:r>
          </a:p>
        </p:txBody>
      </p:sp>
      <p:sp>
        <p:nvSpPr>
          <p:cNvPr id="859240184" name="TextBox 859240183"/>
          <p:cNvSpPr txBox="1"/>
          <p:nvPr/>
        </p:nvSpPr>
        <p:spPr>
          <a:xfrm>
            <a:off x="7178040" y="3685032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310F53"/>
                </a:solidFill>
                <a:latin typeface="Montserrat"/>
              </a:rPr>
              <a:t>Живой монитор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E556E"/>
                </a:solidFill>
                <a:latin typeface="Montserrat"/>
              </a:rPr>
              <a:t>кто на какой карточке, таймеры, звонки, последнее действие</a:t>
            </a:r>
          </a:p>
        </p:txBody>
      </p:sp>
      <p:sp>
        <p:nvSpPr>
          <p:cNvPr id="859240185" name="Rounded Rectangle 859240184"/>
          <p:cNvSpPr/>
          <p:nvPr/>
        </p:nvSpPr>
        <p:spPr>
          <a:xfrm>
            <a:off x="6537960" y="4526280"/>
            <a:ext cx="475488" cy="475488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6" name="TextBox 859240185"/>
          <p:cNvSpPr txBox="1"/>
          <p:nvPr/>
        </p:nvSpPr>
        <p:spPr>
          <a:xfrm>
            <a:off x="6537960" y="452628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0053"/>
                </a:solidFill>
                <a:latin typeface="Montserrat"/>
              </a:rPr>
              <a:t>4</a:t>
            </a:r>
          </a:p>
        </p:txBody>
      </p:sp>
      <p:sp>
        <p:nvSpPr>
          <p:cNvPr id="859240187" name="TextBox 859240186"/>
          <p:cNvSpPr txBox="1"/>
          <p:nvPr/>
        </p:nvSpPr>
        <p:spPr>
          <a:xfrm>
            <a:off x="7178040" y="4507992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310F53"/>
                </a:solidFill>
                <a:latin typeface="Montserrat"/>
              </a:rPr>
              <a:t>Остановка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E556E"/>
                </a:solidFill>
                <a:latin typeface="Montserrat"/>
              </a:rPr>
              <a:t>в любой момент: всё сделанное до стопа сохранится</a:t>
            </a:r>
          </a:p>
        </p:txBody>
      </p:sp>
      <p:sp>
        <p:nvSpPr>
          <p:cNvPr id="859240188" name="Rounded Rectangle 859240187"/>
          <p:cNvSpPr/>
          <p:nvPr/>
        </p:nvSpPr>
        <p:spPr>
          <a:xfrm>
            <a:off x="6537960" y="5349240"/>
            <a:ext cx="475488" cy="475488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9" name="TextBox 859240188"/>
          <p:cNvSpPr txBox="1"/>
          <p:nvPr/>
        </p:nvSpPr>
        <p:spPr>
          <a:xfrm>
            <a:off x="6537960" y="53492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 i="0">
                <a:solidFill>
                  <a:srgbClr val="FF0053"/>
                </a:solidFill>
                <a:latin typeface="Montserrat"/>
              </a:rPr>
              <a:t>5</a:t>
            </a:r>
          </a:p>
        </p:txBody>
      </p:sp>
      <p:sp>
        <p:nvSpPr>
          <p:cNvPr id="859240190" name="TextBox 859240189"/>
          <p:cNvSpPr txBox="1"/>
          <p:nvPr/>
        </p:nvSpPr>
        <p:spPr>
          <a:xfrm>
            <a:off x="7178040" y="5330952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310F53"/>
                </a:solidFill>
                <a:latin typeface="Montserrat"/>
              </a:rPr>
              <a:t>Отчёт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E556E"/>
                </a:solidFill>
                <a:latin typeface="Montserrat"/>
              </a:rPr>
              <a:t>таблица по группе, CSV и PDF, история каждого курсанта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24299942" name="Rounded Rectangle 224299941"/>
          <p:cNvSpPr/>
          <p:nvPr/>
        </p:nvSpPr>
        <p:spPr>
          <a:xfrm>
            <a:off x="347472" y="320040"/>
            <a:ext cx="2011680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3" name="TextBox 224299942"/>
          <p:cNvSpPr txBox="1"/>
          <p:nvPr/>
        </p:nvSpPr>
        <p:spPr>
          <a:xfrm>
            <a:off x="347472" y="320040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АВТООЦЕНКА</a:t>
            </a:r>
          </a:p>
        </p:txBody>
      </p:sp>
      <p:sp>
        <p:nvSpPr>
          <p:cNvPr id="224299944" name="TextBox 224299943"/>
          <p:cNvSpPr txBox="1"/>
          <p:nvPr/>
        </p:nvSpPr>
        <p:spPr>
          <a:xfrm>
            <a:off x="411480" y="1143000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FFFFFF"/>
                </a:solidFill>
                <a:latin typeface="Montserrat"/>
              </a:rPr>
              <a:t>Оценка приходит сразу после закрытия карточки, последнее слово — за преподавателем</a:t>
            </a:r>
          </a:p>
        </p:txBody>
      </p:sp>
      <p:pic>
        <p:nvPicPr>
          <p:cNvPr id="224299945" name="Picture 224299944" descr="c-review-1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03120"/>
            <a:ext cx="6510528" cy="4069080"/>
          </a:xfrm>
          <a:prstGeom prst="roundRect">
            <a:avLst>
              <a:gd name="adj" fmla="val 3500"/>
            </a:avLst>
          </a:prstGeom>
          <a:ln w="19050">
            <a:solidFill>
              <a:srgbClr val="FFFFFF"/>
            </a:solidFill>
          </a:ln>
          <a:effectLst>
            <a:outerShdw blurRad="279400" dist="76200" dir="5400000" algn="t" rotWithShape="0">
              <a:srgbClr val="1C0A33">
                <a:alpha val="30000"/>
              </a:srgbClr>
            </a:outerShdw>
          </a:effectLst>
        </p:spPr>
      </p:pic>
      <p:sp>
        <p:nvSpPr>
          <p:cNvPr id="224299946" name="Rounded Rectangle 224299945"/>
          <p:cNvSpPr/>
          <p:nvPr/>
        </p:nvSpPr>
        <p:spPr>
          <a:xfrm>
            <a:off x="7086600" y="2103120"/>
            <a:ext cx="47091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7" name="TextBox 224299946"/>
          <p:cNvSpPr txBox="1"/>
          <p:nvPr/>
        </p:nvSpPr>
        <p:spPr>
          <a:xfrm>
            <a:off x="7315200" y="2194560"/>
            <a:ext cx="4343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FF0053"/>
                </a:solidFill>
                <a:latin typeface="Montserrat"/>
              </a:rPr>
              <a:t>Правила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C1D22"/>
                </a:solidFill>
                <a:latin typeface="Montserrat"/>
              </a:rPr>
              <a:t>время, адрес, статусы, звонки, выбор служб — по 100-балльной рубрике</a:t>
            </a:r>
          </a:p>
        </p:txBody>
      </p:sp>
      <p:sp>
        <p:nvSpPr>
          <p:cNvPr id="224299948" name="Rounded Rectangle 224299947"/>
          <p:cNvSpPr/>
          <p:nvPr/>
        </p:nvSpPr>
        <p:spPr>
          <a:xfrm>
            <a:off x="7086600" y="3127248"/>
            <a:ext cx="47091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9" name="TextBox 224299948"/>
          <p:cNvSpPr txBox="1"/>
          <p:nvPr/>
        </p:nvSpPr>
        <p:spPr>
          <a:xfrm>
            <a:off x="7315200" y="3218688"/>
            <a:ext cx="4343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FF0053"/>
                </a:solidFill>
                <a:latin typeface="Montserrat"/>
              </a:rPr>
              <a:t>ИИ-судья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C1D22"/>
                </a:solidFill>
                <a:latin typeface="Montserrat"/>
              </a:rPr>
              <a:t>отвечает «да / нет» на закрытые вопросы по тексту; баллы считает система, а не модель</a:t>
            </a:r>
          </a:p>
        </p:txBody>
      </p:sp>
      <p:sp>
        <p:nvSpPr>
          <p:cNvPr id="224299950" name="Rounded Rectangle 224299949"/>
          <p:cNvSpPr/>
          <p:nvPr/>
        </p:nvSpPr>
        <p:spPr>
          <a:xfrm>
            <a:off x="7086600" y="4151376"/>
            <a:ext cx="47091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1" name="TextBox 224299950"/>
          <p:cNvSpPr txBox="1"/>
          <p:nvPr/>
        </p:nvSpPr>
        <p:spPr>
          <a:xfrm>
            <a:off x="7315200" y="4242816"/>
            <a:ext cx="4343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FF0053"/>
                </a:solidFill>
                <a:latin typeface="Montserrat"/>
              </a:rPr>
              <a:t>Сомнение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C1D22"/>
                </a:solidFill>
                <a:latin typeface="Montserrat"/>
              </a:rPr>
              <a:t>если модель не уверена, оценка уходит на проверку, а не в ноль</a:t>
            </a:r>
          </a:p>
        </p:txBody>
      </p:sp>
      <p:sp>
        <p:nvSpPr>
          <p:cNvPr id="224299952" name="Rounded Rectangle 224299951"/>
          <p:cNvSpPr/>
          <p:nvPr/>
        </p:nvSpPr>
        <p:spPr>
          <a:xfrm>
            <a:off x="7086600" y="5175504"/>
            <a:ext cx="47091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3" name="TextBox 224299952"/>
          <p:cNvSpPr txBox="1"/>
          <p:nvPr/>
        </p:nvSpPr>
        <p:spPr>
          <a:xfrm>
            <a:off x="7315200" y="5266944"/>
            <a:ext cx="4343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FF0053"/>
                </a:solidFill>
                <a:latin typeface="Montserrat"/>
              </a:rPr>
              <a:t>Эксперт</a:t>
            </a:r>
          </a:p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C1D22"/>
                </a:solidFill>
                <a:latin typeface="Montserrat"/>
              </a:rPr>
              <a:t>преподаватель правит оценку, история правок сохраняется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24016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59240170" name="Rounded Rectangle 859240169"/>
          <p:cNvSpPr/>
          <p:nvPr/>
        </p:nvSpPr>
        <p:spPr>
          <a:xfrm>
            <a:off x="347472" y="320040"/>
            <a:ext cx="2464308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1" name="TextBox 859240170"/>
          <p:cNvSpPr txBox="1"/>
          <p:nvPr/>
        </p:nvSpPr>
        <p:spPr>
          <a:xfrm>
            <a:off x="347472" y="320040"/>
            <a:ext cx="24643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СВОИ СЦЕНАРИИ</a:t>
            </a:r>
          </a:p>
        </p:txBody>
      </p:sp>
      <p:pic>
        <p:nvPicPr>
          <p:cNvPr id="859240172" name="Picture 859240171" descr="c-scenario-det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88720"/>
            <a:ext cx="6400800" cy="3760470"/>
          </a:xfrm>
          <a:prstGeom prst="roundRect">
            <a:avLst>
              <a:gd name="adj" fmla="val 3500"/>
            </a:avLst>
          </a:prstGeom>
          <a:ln w="12700">
            <a:solidFill>
              <a:srgbClr val="FFD6E4"/>
            </a:solidFill>
          </a:ln>
          <a:effectLst>
            <a:outerShdw blurRad="279400" dist="76200" dir="5400000" algn="t" rotWithShape="0">
              <a:srgbClr val="1C0A33">
                <a:alpha val="30000"/>
              </a:srgbClr>
            </a:outerShdw>
          </a:effectLst>
        </p:spPr>
      </p:pic>
      <p:sp>
        <p:nvSpPr>
          <p:cNvPr id="859240173" name="TextBox 859240172"/>
          <p:cNvSpPr txBox="1"/>
          <p:nvPr/>
        </p:nvSpPr>
        <p:spPr>
          <a:xfrm>
            <a:off x="411480" y="118872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 i="0">
                <a:solidFill>
                  <a:srgbClr val="310F53"/>
                </a:solidFill>
                <a:latin typeface="Montserrat"/>
              </a:rPr>
              <a:t>Преподаватель пишет новый кейс без программиста</a:t>
            </a:r>
          </a:p>
        </p:txBody>
      </p:sp>
      <p:sp>
        <p:nvSpPr>
          <p:cNvPr id="859240174" name="TextBox 859240173"/>
          <p:cNvSpPr txBox="1"/>
          <p:nvPr/>
        </p:nvSpPr>
        <p:spPr>
          <a:xfrm>
            <a:off x="411480" y="2606040"/>
            <a:ext cx="47548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0000"/>
              </a:lnSpc>
              <a:buClr>
                <a:srgbClr val="FF0053"/>
              </a:buClr>
              <a:buSzPct val="110000"/>
              <a:buFont typeface="Arial"/>
              <a:buChar char="•"/>
            </a:pPr>
            <a:r>
              <a:rPr sz="1350" b="0" i="0">
                <a:solidFill>
                  <a:srgbClr val="1C1D22"/>
                </a:solidFill>
                <a:latin typeface="Montserrat"/>
              </a:rPr>
              <a:t>Веб-редактор: заявитель, факты, эталон карточки, вопросы для ИИ-судьи</a:t>
            </a:r>
          </a:p>
          <a:p>
            <a:pPr algn="l" marL="237744" indent="-237744">
              <a:lnSpc>
                <a:spcPct val="110000"/>
              </a:lnSpc>
              <a:spcBef>
                <a:spcPts val="10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50" b="0" i="0">
                <a:solidFill>
                  <a:srgbClr val="1C1D22"/>
                </a:solidFill>
                <a:latin typeface="Montserrat"/>
              </a:rPr>
              <a:t>Проверка на ошибки до утверждения</a:t>
            </a:r>
          </a:p>
          <a:p>
            <a:pPr algn="l" marL="237744" indent="-237744">
              <a:lnSpc>
                <a:spcPct val="110000"/>
              </a:lnSpc>
              <a:spcBef>
                <a:spcPts val="10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50" b="0" i="0">
                <a:solidFill>
                  <a:srgbClr val="1C1D22"/>
                </a:solidFill>
                <a:latin typeface="Montserrat"/>
              </a:rPr>
              <a:t>«Пройти самому» — предпросмотр с настоящей автооценкой</a:t>
            </a:r>
          </a:p>
          <a:p>
            <a:pPr algn="l" marL="237744" indent="-237744">
              <a:lnSpc>
                <a:spcPct val="110000"/>
              </a:lnSpc>
              <a:spcBef>
                <a:spcPts val="10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350" b="0" i="0">
                <a:solidFill>
                  <a:srgbClr val="1C1D22"/>
                </a:solidFill>
                <a:latin typeface="Montserrat"/>
              </a:rPr>
              <a:t>Утверждённая версия неизменна: идущие занятия и старые оценки не меняются</a:t>
            </a:r>
          </a:p>
        </p:txBody>
      </p:sp>
      <p:sp>
        <p:nvSpPr>
          <p:cNvPr id="859240175" name="Rounded Rectangle 859240174"/>
          <p:cNvSpPr/>
          <p:nvPr/>
        </p:nvSpPr>
        <p:spPr>
          <a:xfrm>
            <a:off x="411480" y="5532120"/>
            <a:ext cx="11384280" cy="685800"/>
          </a:xfrm>
          <a:prstGeom prst="roundRect">
            <a:avLst>
              <a:gd name="adj" fmla="val 20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6" name="TextBox 859240175"/>
          <p:cNvSpPr txBox="1"/>
          <p:nvPr/>
        </p:nvSpPr>
        <p:spPr>
          <a:xfrm>
            <a:off x="685800" y="553212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Новый сценарий попадает в каталог сразу после утверждения и доступен всем преподавателям</a:t>
            </a:r>
          </a:p>
        </p:txBody>
      </p:sp>
      <p:sp>
        <p:nvSpPr>
          <p:cNvPr id="859240177" name="TextBox 859240176"/>
          <p:cNvSpPr txBox="1"/>
          <p:nvPr/>
        </p:nvSpPr>
        <p:spPr>
          <a:xfrm>
            <a:off x="5440680" y="49834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1">
                <a:solidFill>
                  <a:srgbClr val="5E556E"/>
                </a:solidFill>
                <a:latin typeface="Montserrat"/>
              </a:rPr>
              <a:t>Эталон сценария: карточка после обработки и контрольные вопросы судье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24299942" name="Rounded Rectangle 224299941"/>
          <p:cNvSpPr/>
          <p:nvPr/>
        </p:nvSpPr>
        <p:spPr>
          <a:xfrm>
            <a:off x="347472" y="320040"/>
            <a:ext cx="5029200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3" name="TextBox 224299942"/>
          <p:cNvSpPr txBox="1"/>
          <p:nvPr/>
        </p:nvSpPr>
        <p:spPr>
          <a:xfrm>
            <a:off x="347472" y="320040"/>
            <a:ext cx="5029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НАДЁЖНОСТЬ И АДМИНИСТРИРОВАНИЕ</a:t>
            </a:r>
          </a:p>
        </p:txBody>
      </p:sp>
      <p:pic>
        <p:nvPicPr>
          <p:cNvPr id="224299944" name="Picture 224299943" descr="c-admin-stat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5394960" cy="2899791"/>
          </a:xfrm>
          <a:prstGeom prst="roundRect">
            <a:avLst>
              <a:gd name="adj" fmla="val 3500"/>
            </a:avLst>
          </a:prstGeom>
          <a:ln w="19050">
            <a:solidFill>
              <a:srgbClr val="FFFFFF"/>
            </a:solidFill>
          </a:ln>
          <a:effectLst>
            <a:outerShdw blurRad="279400" dist="76200" dir="5400000" algn="t" rotWithShape="0">
              <a:srgbClr val="1C0A33">
                <a:alpha val="30000"/>
              </a:srgbClr>
            </a:outerShdw>
          </a:effectLst>
        </p:spPr>
      </p:pic>
      <p:sp>
        <p:nvSpPr>
          <p:cNvPr id="224299945" name="TextBox 224299944"/>
          <p:cNvSpPr txBox="1"/>
          <p:nvPr/>
        </p:nvSpPr>
        <p:spPr>
          <a:xfrm>
            <a:off x="6172200" y="1188720"/>
            <a:ext cx="5623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Montserrat"/>
              </a:rPr>
              <a:t>Система, которую можно доверить классу</a:t>
            </a:r>
          </a:p>
        </p:txBody>
      </p:sp>
      <p:sp>
        <p:nvSpPr>
          <p:cNvPr id="224299946" name="TextBox 224299945"/>
          <p:cNvSpPr txBox="1"/>
          <p:nvPr/>
        </p:nvSpPr>
        <p:spPr>
          <a:xfrm>
            <a:off x="6172200" y="2240280"/>
            <a:ext cx="56235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0000"/>
              </a:lnSpc>
              <a:buClr>
                <a:srgbClr val="FF0053"/>
              </a:buClr>
              <a:buSzPct val="110000"/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  <a:latin typeface="Montserrat"/>
              </a:rPr>
              <a:t>Ежедневные резервные копии и восстановление в один шаг</a:t>
            </a:r>
          </a:p>
          <a:p>
            <a:pPr algn="l" marL="237744" indent="-237744">
              <a:lnSpc>
                <a:spcPct val="110000"/>
              </a:lnSpc>
              <a:spcBef>
                <a:spcPts val="12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  <a:latin typeface="Montserrat"/>
              </a:rPr>
              <a:t>Контроль целостности данных и доказательств</a:t>
            </a:r>
          </a:p>
          <a:p>
            <a:pPr algn="l" marL="237744" indent="-237744">
              <a:lnSpc>
                <a:spcPct val="110000"/>
              </a:lnSpc>
              <a:spcBef>
                <a:spcPts val="12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  <a:latin typeface="Montserrat"/>
              </a:rPr>
              <a:t>Журнал аудита всех действий, отчёты об использовании</a:t>
            </a:r>
          </a:p>
          <a:p>
            <a:pPr algn="l" marL="237744" indent="-237744">
              <a:lnSpc>
                <a:spcPct val="110000"/>
              </a:lnSpc>
              <a:spcBef>
                <a:spcPts val="12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  <a:latin typeface="Montserrat"/>
              </a:rPr>
              <a:t>Режим обслуживания и обновление с обязательной копией</a:t>
            </a:r>
          </a:p>
          <a:p>
            <a:pPr algn="l" marL="237744" indent="-237744">
              <a:lnSpc>
                <a:spcPct val="110000"/>
              </a:lnSpc>
              <a:spcBef>
                <a:spcPts val="12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  <a:latin typeface="Montserrat"/>
              </a:rPr>
              <a:t>Политика паролей, блокировки, импорт пользователей из CSV</a:t>
            </a:r>
          </a:p>
          <a:p>
            <a:pPr algn="l" marL="237744" indent="-237744">
              <a:lnSpc>
                <a:spcPct val="110000"/>
              </a:lnSpc>
              <a:spcBef>
                <a:spcPts val="12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400" b="0" i="0">
                <a:solidFill>
                  <a:srgbClr val="FFFFFF"/>
                </a:solidFill>
                <a:latin typeface="Montserrat"/>
              </a:rPr>
              <a:t>Администратор не видит оценок и содержимого занятий</a:t>
            </a:r>
          </a:p>
        </p:txBody>
      </p:sp>
      <p:sp>
        <p:nvSpPr>
          <p:cNvPr id="224299947" name="Rounded Rectangle 224299946"/>
          <p:cNvSpPr/>
          <p:nvPr/>
        </p:nvSpPr>
        <p:spPr>
          <a:xfrm>
            <a:off x="411480" y="4480560"/>
            <a:ext cx="5394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8" name="TextBox 224299947"/>
          <p:cNvSpPr txBox="1"/>
          <p:nvPr/>
        </p:nvSpPr>
        <p:spPr>
          <a:xfrm>
            <a:off x="685800" y="4572000"/>
            <a:ext cx="4892040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FF0053"/>
                </a:solidFill>
                <a:latin typeface="Montserrat"/>
              </a:rPr>
              <a:t>Сервер — источник истины</a:t>
            </a:r>
          </a:p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C1D22"/>
                </a:solidFill>
                <a:latin typeface="Montserrat"/>
              </a:rPr>
              <a:t>Повтор команды после обрыва сети не даёт двойного эффекта; перезапуск сервера не теряет подтверждённых действий; остановка занятия — чёткая граница для оценки.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24016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59240170" name="Rounded Rectangle 859240169"/>
          <p:cNvSpPr/>
          <p:nvPr/>
        </p:nvSpPr>
        <p:spPr>
          <a:xfrm>
            <a:off x="347472" y="320040"/>
            <a:ext cx="2011680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1" name="TextBox 859240170"/>
          <p:cNvSpPr txBox="1"/>
          <p:nvPr/>
        </p:nvSpPr>
        <p:spPr>
          <a:xfrm>
            <a:off x="347472" y="320040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ТЕХНОЛОГИИ</a:t>
            </a:r>
          </a:p>
        </p:txBody>
      </p:sp>
      <p:sp>
        <p:nvSpPr>
          <p:cNvPr id="859240172" name="Rounded Rectangle 859240171"/>
          <p:cNvSpPr/>
          <p:nvPr/>
        </p:nvSpPr>
        <p:spPr>
          <a:xfrm>
            <a:off x="411480" y="1280160"/>
            <a:ext cx="2377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3" name="TextBox 859240172"/>
          <p:cNvSpPr txBox="1"/>
          <p:nvPr/>
        </p:nvSpPr>
        <p:spPr>
          <a:xfrm>
            <a:off x="594360" y="14173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FF0053"/>
                </a:solidFill>
                <a:latin typeface="Montserrat"/>
              </a:rPr>
              <a:t>БРАУЗЕРЫ</a:t>
            </a:r>
          </a:p>
        </p:txBody>
      </p:sp>
      <p:sp>
        <p:nvSpPr>
          <p:cNvPr id="859240174" name="Rounded Rectangle 859240173"/>
          <p:cNvSpPr/>
          <p:nvPr/>
        </p:nvSpPr>
        <p:spPr>
          <a:xfrm>
            <a:off x="594360" y="1828800"/>
            <a:ext cx="2011680" cy="713232"/>
          </a:xfrm>
          <a:prstGeom prst="roundRect">
            <a:avLst>
              <a:gd name="adj" fmla="val 15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5" name="TextBox 859240174"/>
          <p:cNvSpPr txBox="1"/>
          <p:nvPr/>
        </p:nvSpPr>
        <p:spPr>
          <a:xfrm>
            <a:off x="594360" y="1828800"/>
            <a:ext cx="20116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10F53"/>
                </a:solidFill>
                <a:latin typeface="Montserrat"/>
              </a:rPr>
              <a:t>Курсанты РМ-01…30</a:t>
            </a:r>
          </a:p>
        </p:txBody>
      </p:sp>
      <p:sp>
        <p:nvSpPr>
          <p:cNvPr id="859240176" name="Rounded Rectangle 859240175"/>
          <p:cNvSpPr/>
          <p:nvPr/>
        </p:nvSpPr>
        <p:spPr>
          <a:xfrm>
            <a:off x="594360" y="2697480"/>
            <a:ext cx="2011680" cy="713232"/>
          </a:xfrm>
          <a:prstGeom prst="roundRect">
            <a:avLst>
              <a:gd name="adj" fmla="val 15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7" name="TextBox 859240176"/>
          <p:cNvSpPr txBox="1"/>
          <p:nvPr/>
        </p:nvSpPr>
        <p:spPr>
          <a:xfrm>
            <a:off x="594360" y="2697480"/>
            <a:ext cx="20116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10F53"/>
                </a:solidFill>
                <a:latin typeface="Montserrat"/>
              </a:rPr>
              <a:t>Преподаватель</a:t>
            </a:r>
          </a:p>
        </p:txBody>
      </p:sp>
      <p:sp>
        <p:nvSpPr>
          <p:cNvPr id="859240178" name="Rounded Rectangle 859240177"/>
          <p:cNvSpPr/>
          <p:nvPr/>
        </p:nvSpPr>
        <p:spPr>
          <a:xfrm>
            <a:off x="594360" y="3566160"/>
            <a:ext cx="2011680" cy="713232"/>
          </a:xfrm>
          <a:prstGeom prst="roundRect">
            <a:avLst>
              <a:gd name="adj" fmla="val 15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79" name="TextBox 859240178"/>
          <p:cNvSpPr txBox="1"/>
          <p:nvPr/>
        </p:nvSpPr>
        <p:spPr>
          <a:xfrm>
            <a:off x="594360" y="3566160"/>
            <a:ext cx="20116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10F53"/>
                </a:solidFill>
                <a:latin typeface="Montserrat"/>
              </a:rPr>
              <a:t>Администратор</a:t>
            </a:r>
          </a:p>
        </p:txBody>
      </p:sp>
      <p:cxnSp>
        <p:nvCxnSpPr>
          <p:cNvPr id="859240180" name="Connector 859240179"/>
          <p:cNvCxnSpPr/>
          <p:nvPr/>
        </p:nvCxnSpPr>
        <p:spPr>
          <a:xfrm>
            <a:off x="2834640" y="2926080"/>
            <a:ext cx="594360" cy="0"/>
          </a:xfrm>
          <a:prstGeom prst="line">
            <a:avLst/>
          </a:prstGeom>
          <a:ln w="25400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9240181" name="TextBox 859240180"/>
          <p:cNvSpPr txBox="1"/>
          <p:nvPr/>
        </p:nvSpPr>
        <p:spPr>
          <a:xfrm>
            <a:off x="2761488" y="3017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1" i="0">
                <a:solidFill>
                  <a:srgbClr val="5E556E"/>
                </a:solidFill>
                <a:latin typeface="Montserrat"/>
              </a:rPr>
              <a:t>HTTPS</a:t>
            </a:r>
          </a:p>
        </p:txBody>
      </p:sp>
      <p:sp>
        <p:nvSpPr>
          <p:cNvPr id="859240182" name="Rounded Rectangle 859240181"/>
          <p:cNvSpPr/>
          <p:nvPr/>
        </p:nvSpPr>
        <p:spPr>
          <a:xfrm>
            <a:off x="3474720" y="1280160"/>
            <a:ext cx="4572000" cy="3291840"/>
          </a:xfrm>
          <a:prstGeom prst="roundRect">
            <a:avLst>
              <a:gd name="adj" fmla="val 8000"/>
            </a:avLst>
          </a:prstGeom>
          <a:solidFill>
            <a:srgbClr val="310F53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3" name="TextBox 859240182"/>
          <p:cNvSpPr txBox="1"/>
          <p:nvPr/>
        </p:nvSpPr>
        <p:spPr>
          <a:xfrm>
            <a:off x="3703320" y="14173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FFD6E4"/>
                </a:solidFill>
                <a:latin typeface="Montserrat"/>
              </a:rPr>
              <a:t>EMSIM · ОДИН GO-БИНАРНИК</a:t>
            </a:r>
          </a:p>
        </p:txBody>
      </p:sp>
      <p:sp>
        <p:nvSpPr>
          <p:cNvPr id="859240184" name="Rounded Rectangle 859240183"/>
          <p:cNvSpPr/>
          <p:nvPr/>
        </p:nvSpPr>
        <p:spPr>
          <a:xfrm>
            <a:off x="3703320" y="1828800"/>
            <a:ext cx="4114800" cy="713232"/>
          </a:xfrm>
          <a:prstGeom prst="roundRect">
            <a:avLst>
              <a:gd name="adj" fmla="val 15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5" name="TextBox 859240184"/>
          <p:cNvSpPr txBox="1"/>
          <p:nvPr/>
        </p:nvSpPr>
        <p:spPr>
          <a:xfrm>
            <a:off x="3886200" y="1828800"/>
            <a:ext cx="3840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api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D6E4"/>
                </a:solidFill>
                <a:latin typeface="Montserrat"/>
              </a:rPr>
              <a:t>REST + SSE, веб-интерфейс, таймлайн сценариев</a:t>
            </a:r>
          </a:p>
        </p:txBody>
      </p:sp>
      <p:sp>
        <p:nvSpPr>
          <p:cNvPr id="859240186" name="Rounded Rectangle 859240185"/>
          <p:cNvSpPr/>
          <p:nvPr/>
        </p:nvSpPr>
        <p:spPr>
          <a:xfrm>
            <a:off x="3703320" y="2697480"/>
            <a:ext cx="4114800" cy="713232"/>
          </a:xfrm>
          <a:prstGeom prst="roundRect">
            <a:avLst>
              <a:gd name="adj" fmla="val 15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7" name="TextBox 859240186"/>
          <p:cNvSpPr txBox="1"/>
          <p:nvPr/>
        </p:nvSpPr>
        <p:spPr>
          <a:xfrm>
            <a:off x="3886200" y="2697480"/>
            <a:ext cx="3840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worker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D6E4"/>
                </a:solidFill>
                <a:latin typeface="Montserrat"/>
              </a:rPr>
              <a:t>оценка, ответы заявителя, бэкапы</a:t>
            </a:r>
          </a:p>
        </p:txBody>
      </p:sp>
      <p:sp>
        <p:nvSpPr>
          <p:cNvPr id="859240188" name="Rounded Rectangle 859240187"/>
          <p:cNvSpPr/>
          <p:nvPr/>
        </p:nvSpPr>
        <p:spPr>
          <a:xfrm>
            <a:off x="3703320" y="3566160"/>
            <a:ext cx="4114800" cy="713232"/>
          </a:xfrm>
          <a:prstGeom prst="roundRect">
            <a:avLst>
              <a:gd name="adj" fmla="val 15000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89" name="TextBox 859240188"/>
          <p:cNvSpPr txBox="1"/>
          <p:nvPr/>
        </p:nvSpPr>
        <p:spPr>
          <a:xfrm>
            <a:off x="3886200" y="3566160"/>
            <a:ext cx="3840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PostgreSQL 16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D6E4"/>
                </a:solidFill>
                <a:latin typeface="Montserrat"/>
              </a:rPr>
              <a:t>данные, очередь задач, уведомления</a:t>
            </a:r>
          </a:p>
        </p:txBody>
      </p:sp>
      <p:cxnSp>
        <p:nvCxnSpPr>
          <p:cNvPr id="859240190" name="Connector 859240189"/>
          <p:cNvCxnSpPr/>
          <p:nvPr/>
        </p:nvCxnSpPr>
        <p:spPr>
          <a:xfrm>
            <a:off x="8092440" y="2926080"/>
            <a:ext cx="594360" cy="0"/>
          </a:xfrm>
          <a:prstGeom prst="line">
            <a:avLst/>
          </a:prstGeom>
          <a:ln w="25400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9240191" name="Rounded Rectangle 859240190"/>
          <p:cNvSpPr/>
          <p:nvPr/>
        </p:nvSpPr>
        <p:spPr>
          <a:xfrm>
            <a:off x="8732520" y="1280160"/>
            <a:ext cx="30632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0053"/>
            </a:solidFill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92" name="TextBox 859240191"/>
          <p:cNvSpPr txBox="1"/>
          <p:nvPr/>
        </p:nvSpPr>
        <p:spPr>
          <a:xfrm>
            <a:off x="8915400" y="14173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FF0053"/>
                </a:solidFill>
                <a:latin typeface="Montserrat"/>
              </a:rPr>
              <a:t>ЛОКАЛЬНЫЕ МОДЕЛИ</a:t>
            </a:r>
          </a:p>
        </p:txBody>
      </p:sp>
      <p:sp>
        <p:nvSpPr>
          <p:cNvPr id="859240193" name="Rounded Rectangle 859240192"/>
          <p:cNvSpPr/>
          <p:nvPr/>
        </p:nvSpPr>
        <p:spPr>
          <a:xfrm>
            <a:off x="8915400" y="1828800"/>
            <a:ext cx="2697480" cy="9144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94" name="TextBox 859240193"/>
          <p:cNvSpPr txBox="1"/>
          <p:nvPr/>
        </p:nvSpPr>
        <p:spPr>
          <a:xfrm>
            <a:off x="9098280" y="182880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T-lite-it-2.1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Montserrat"/>
              </a:rPr>
              <a:t>llama.cpp · Т-Банк</a:t>
            </a:r>
          </a:p>
        </p:txBody>
      </p:sp>
      <p:sp>
        <p:nvSpPr>
          <p:cNvPr id="859240195" name="Rounded Rectangle 859240194"/>
          <p:cNvSpPr/>
          <p:nvPr/>
        </p:nvSpPr>
        <p:spPr>
          <a:xfrm>
            <a:off x="8915400" y="2926080"/>
            <a:ext cx="2697480" cy="914400"/>
          </a:xfrm>
          <a:prstGeom prst="roundRect">
            <a:avLst>
              <a:gd name="adj" fmla="val 15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96" name="TextBox 859240195"/>
          <p:cNvSpPr txBox="1"/>
          <p:nvPr/>
        </p:nvSpPr>
        <p:spPr>
          <a:xfrm>
            <a:off x="9098280" y="292608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10F53"/>
                </a:solidFill>
                <a:latin typeface="Montserrat"/>
              </a:rPr>
              <a:t>whisper small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20978"/>
                </a:solidFill>
                <a:latin typeface="Montserrat"/>
              </a:rPr>
              <a:t>whisper.cpp · речь в текст</a:t>
            </a:r>
          </a:p>
        </p:txBody>
      </p:sp>
      <p:sp>
        <p:nvSpPr>
          <p:cNvPr id="859240197" name="TextBox 859240196"/>
          <p:cNvSpPr txBox="1"/>
          <p:nvPr/>
        </p:nvSpPr>
        <p:spPr>
          <a:xfrm>
            <a:off x="8915400" y="40690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E556E"/>
                </a:solidFill>
                <a:latin typeface="Montserrat"/>
              </a:rPr>
              <a:t>изолированная сеть,
без интернета</a:t>
            </a:r>
          </a:p>
        </p:txBody>
      </p:sp>
      <p:sp>
        <p:nvSpPr>
          <p:cNvPr id="859240198" name="Rounded Rectangle 859240197"/>
          <p:cNvSpPr/>
          <p:nvPr/>
        </p:nvSpPr>
        <p:spPr>
          <a:xfrm>
            <a:off x="411480" y="4846320"/>
            <a:ext cx="49616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199" name="TextBox 859240198"/>
          <p:cNvSpPr txBox="1"/>
          <p:nvPr/>
        </p:nvSpPr>
        <p:spPr>
          <a:xfrm>
            <a:off x="411480" y="4846320"/>
            <a:ext cx="49616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520978"/>
                </a:solidFill>
                <a:latin typeface="Montserrat"/>
              </a:rPr>
              <a:t>Go</a:t>
            </a:r>
          </a:p>
        </p:txBody>
      </p:sp>
      <p:sp>
        <p:nvSpPr>
          <p:cNvPr id="859240200" name="Rounded Rectangle 859240199"/>
          <p:cNvSpPr/>
          <p:nvPr/>
        </p:nvSpPr>
        <p:spPr>
          <a:xfrm>
            <a:off x="1035657" y="4846320"/>
            <a:ext cx="141453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201" name="TextBox 859240200"/>
          <p:cNvSpPr txBox="1"/>
          <p:nvPr/>
        </p:nvSpPr>
        <p:spPr>
          <a:xfrm>
            <a:off x="1035657" y="4846320"/>
            <a:ext cx="141453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520978"/>
                </a:solidFill>
                <a:latin typeface="Montserrat"/>
              </a:rPr>
              <a:t>PostgreSQL 16</a:t>
            </a:r>
          </a:p>
        </p:txBody>
      </p:sp>
      <p:sp>
        <p:nvSpPr>
          <p:cNvPr id="859240202" name="Rounded Rectangle 859240201"/>
          <p:cNvSpPr/>
          <p:nvPr/>
        </p:nvSpPr>
        <p:spPr>
          <a:xfrm>
            <a:off x="2578210" y="4846320"/>
            <a:ext cx="1831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203" name="TextBox 859240202"/>
          <p:cNvSpPr txBox="1"/>
          <p:nvPr/>
        </p:nvSpPr>
        <p:spPr>
          <a:xfrm>
            <a:off x="2578210" y="4846320"/>
            <a:ext cx="18319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520978"/>
                </a:solidFill>
                <a:latin typeface="Montserrat"/>
              </a:rPr>
              <a:t>React + TypeScript</a:t>
            </a:r>
          </a:p>
        </p:txBody>
      </p:sp>
      <p:sp>
        <p:nvSpPr>
          <p:cNvPr id="859240204" name="Rounded Rectangle 859240203"/>
          <p:cNvSpPr/>
          <p:nvPr/>
        </p:nvSpPr>
        <p:spPr>
          <a:xfrm>
            <a:off x="4538206" y="4846320"/>
            <a:ext cx="108058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205" name="TextBox 859240204"/>
          <p:cNvSpPr txBox="1"/>
          <p:nvPr/>
        </p:nvSpPr>
        <p:spPr>
          <a:xfrm>
            <a:off x="4538206" y="4846320"/>
            <a:ext cx="108058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520978"/>
                </a:solidFill>
                <a:latin typeface="Montserrat"/>
              </a:rPr>
              <a:t>llama.cpp</a:t>
            </a:r>
          </a:p>
        </p:txBody>
      </p:sp>
      <p:sp>
        <p:nvSpPr>
          <p:cNvPr id="859240206" name="Rounded Rectangle 859240205"/>
          <p:cNvSpPr/>
          <p:nvPr/>
        </p:nvSpPr>
        <p:spPr>
          <a:xfrm>
            <a:off x="5746805" y="4846320"/>
            <a:ext cx="124755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207" name="TextBox 859240206"/>
          <p:cNvSpPr txBox="1"/>
          <p:nvPr/>
        </p:nvSpPr>
        <p:spPr>
          <a:xfrm>
            <a:off x="5746805" y="4846320"/>
            <a:ext cx="124755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520978"/>
                </a:solidFill>
                <a:latin typeface="Montserrat"/>
              </a:rPr>
              <a:t>whisper.cpp</a:t>
            </a:r>
          </a:p>
        </p:txBody>
      </p:sp>
      <p:sp>
        <p:nvSpPr>
          <p:cNvPr id="859240208" name="Rounded Rectangle 859240207"/>
          <p:cNvSpPr/>
          <p:nvPr/>
        </p:nvSpPr>
        <p:spPr>
          <a:xfrm>
            <a:off x="7122380" y="4846320"/>
            <a:ext cx="1498025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209" name="TextBox 859240208"/>
          <p:cNvSpPr txBox="1"/>
          <p:nvPr/>
        </p:nvSpPr>
        <p:spPr>
          <a:xfrm>
            <a:off x="7122380" y="4846320"/>
            <a:ext cx="149802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520978"/>
                </a:solidFill>
                <a:latin typeface="Montserrat"/>
              </a:rPr>
              <a:t>Docker Compose</a:t>
            </a:r>
          </a:p>
        </p:txBody>
      </p:sp>
      <p:sp>
        <p:nvSpPr>
          <p:cNvPr id="859240210" name="Rounded Rectangle 859240209"/>
          <p:cNvSpPr/>
          <p:nvPr/>
        </p:nvSpPr>
        <p:spPr>
          <a:xfrm>
            <a:off x="8748422" y="4846320"/>
            <a:ext cx="124755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211" name="TextBox 859240210"/>
          <p:cNvSpPr txBox="1"/>
          <p:nvPr/>
        </p:nvSpPr>
        <p:spPr>
          <a:xfrm>
            <a:off x="8748422" y="4846320"/>
            <a:ext cx="124755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520978"/>
                </a:solidFill>
                <a:latin typeface="Montserrat"/>
              </a:rPr>
              <a:t>Caddy HTTPS</a:t>
            </a:r>
          </a:p>
        </p:txBody>
      </p:sp>
      <p:sp>
        <p:nvSpPr>
          <p:cNvPr id="859240212" name="Rounded Rectangle 859240211"/>
          <p:cNvSpPr/>
          <p:nvPr/>
        </p:nvSpPr>
        <p:spPr>
          <a:xfrm>
            <a:off x="10123998" y="4846320"/>
            <a:ext cx="91360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9240213" name="TextBox 859240212"/>
          <p:cNvSpPr txBox="1"/>
          <p:nvPr/>
        </p:nvSpPr>
        <p:spPr>
          <a:xfrm>
            <a:off x="10123998" y="4846320"/>
            <a:ext cx="9136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 i="0">
                <a:solidFill>
                  <a:srgbClr val="520978"/>
                </a:solidFill>
                <a:latin typeface="Montserrat"/>
              </a:rPr>
              <a:t>OpenAPI</a:t>
            </a:r>
          </a:p>
        </p:txBody>
      </p:sp>
      <p:sp>
        <p:nvSpPr>
          <p:cNvPr id="859240214" name="TextBox 859240213"/>
          <p:cNvSpPr txBox="1"/>
          <p:nvPr/>
        </p:nvSpPr>
        <p:spPr>
          <a:xfrm>
            <a:off x="411480" y="5394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FF0053"/>
                </a:solidFill>
                <a:latin typeface="Montserrat"/>
              </a:rPr>
              <a:t>38</a:t>
            </a:r>
          </a:p>
        </p:txBody>
      </p:sp>
      <p:sp>
        <p:nvSpPr>
          <p:cNvPr id="859240215" name="TextBox 859240214"/>
          <p:cNvSpPr txBox="1"/>
          <p:nvPr/>
        </p:nvSpPr>
        <p:spPr>
          <a:xfrm>
            <a:off x="411480" y="5852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310F53"/>
                </a:solidFill>
                <a:latin typeface="Montserrat"/>
              </a:rPr>
              <a:t>архитектурных решений (ADR)</a:t>
            </a:r>
          </a:p>
        </p:txBody>
      </p:sp>
      <p:sp>
        <p:nvSpPr>
          <p:cNvPr id="859240216" name="TextBox 859240215"/>
          <p:cNvSpPr txBox="1"/>
          <p:nvPr/>
        </p:nvSpPr>
        <p:spPr>
          <a:xfrm>
            <a:off x="3282696" y="5394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FF0053"/>
                </a:solidFill>
                <a:latin typeface="Montserrat"/>
              </a:rPr>
              <a:t>780+</a:t>
            </a:r>
          </a:p>
        </p:txBody>
      </p:sp>
      <p:sp>
        <p:nvSpPr>
          <p:cNvPr id="859240217" name="TextBox 859240216"/>
          <p:cNvSpPr txBox="1"/>
          <p:nvPr/>
        </p:nvSpPr>
        <p:spPr>
          <a:xfrm>
            <a:off x="3282696" y="5852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310F53"/>
                </a:solidFill>
                <a:latin typeface="Montserrat"/>
              </a:rPr>
              <a:t>автотестов, 134 — на реальной БД</a:t>
            </a:r>
          </a:p>
        </p:txBody>
      </p:sp>
      <p:sp>
        <p:nvSpPr>
          <p:cNvPr id="859240218" name="TextBox 859240217"/>
          <p:cNvSpPr txBox="1"/>
          <p:nvPr/>
        </p:nvSpPr>
        <p:spPr>
          <a:xfrm>
            <a:off x="6153912" y="5394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FF0053"/>
                </a:solidFill>
                <a:latin typeface="Montserrat"/>
              </a:rPr>
              <a:t>16</a:t>
            </a:r>
          </a:p>
        </p:txBody>
      </p:sp>
      <p:sp>
        <p:nvSpPr>
          <p:cNvPr id="859240219" name="TextBox 859240218"/>
          <p:cNvSpPr txBox="1"/>
          <p:nvPr/>
        </p:nvSpPr>
        <p:spPr>
          <a:xfrm>
            <a:off x="6153912" y="5852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310F53"/>
                </a:solidFill>
                <a:latin typeface="Montserrat"/>
              </a:rPr>
              <a:t>сквозных сценариев в браузере</a:t>
            </a:r>
          </a:p>
        </p:txBody>
      </p:sp>
      <p:sp>
        <p:nvSpPr>
          <p:cNvPr id="859240220" name="TextBox 859240219"/>
          <p:cNvSpPr txBox="1"/>
          <p:nvPr/>
        </p:nvSpPr>
        <p:spPr>
          <a:xfrm>
            <a:off x="9025128" y="5394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FF0053"/>
                </a:solidFill>
                <a:latin typeface="Montserrat"/>
              </a:rPr>
              <a:t>1</a:t>
            </a:r>
          </a:p>
        </p:txBody>
      </p:sp>
      <p:sp>
        <p:nvSpPr>
          <p:cNvPr id="859240221" name="TextBox 859240220"/>
          <p:cNvSpPr txBox="1"/>
          <p:nvPr/>
        </p:nvSpPr>
        <p:spPr>
          <a:xfrm>
            <a:off x="9025128" y="5852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310F53"/>
                </a:solidFill>
                <a:latin typeface="Montserrat"/>
              </a:rPr>
              <a:t>команда: docker compose up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99941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24299942" name="Rounded Rectangle 224299941"/>
          <p:cNvSpPr/>
          <p:nvPr/>
        </p:nvSpPr>
        <p:spPr>
          <a:xfrm>
            <a:off x="347472" y="320040"/>
            <a:ext cx="3671316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3" name="TextBox 224299942"/>
          <p:cNvSpPr txBox="1"/>
          <p:nvPr/>
        </p:nvSpPr>
        <p:spPr>
          <a:xfrm>
            <a:off x="347472" y="320040"/>
            <a:ext cx="367131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ГОТОВНОСТЬ И РАЗВИТИЕ</a:t>
            </a:r>
          </a:p>
        </p:txBody>
      </p:sp>
      <p:sp>
        <p:nvSpPr>
          <p:cNvPr id="224299944" name="Rounded Rectangle 224299943"/>
          <p:cNvSpPr/>
          <p:nvPr/>
        </p:nvSpPr>
        <p:spPr>
          <a:xfrm>
            <a:off x="411480" y="1234440"/>
            <a:ext cx="5532120" cy="4983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28600" dist="50800" dir="5400000" algn="t" rotWithShape="0">
              <a:srgbClr val="1C0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5" name="TextBox 224299944"/>
          <p:cNvSpPr txBox="1"/>
          <p:nvPr/>
        </p:nvSpPr>
        <p:spPr>
          <a:xfrm>
            <a:off x="731520" y="14630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310F53"/>
                </a:solidFill>
                <a:latin typeface="Montserrat"/>
              </a:rPr>
              <a:t>Работает уже сейчас</a:t>
            </a:r>
          </a:p>
        </p:txBody>
      </p:sp>
      <p:sp>
        <p:nvSpPr>
          <p:cNvPr id="224299946" name="TextBox 224299945"/>
          <p:cNvSpPr txBox="1"/>
          <p:nvPr/>
        </p:nvSpPr>
        <p:spPr>
          <a:xfrm>
            <a:off x="731520" y="2057400"/>
            <a:ext cx="498348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0000"/>
              </a:lnSpc>
              <a:buClr>
                <a:srgbClr val="FF0053"/>
              </a:buClr>
              <a:buSzPct val="110000"/>
              <a:buFont typeface="Arial"/>
              <a:buChar char="•"/>
            </a:pPr>
            <a:r>
              <a:rPr sz="1250" b="0" i="0">
                <a:solidFill>
                  <a:srgbClr val="1C1D22"/>
                </a:solidFill>
                <a:latin typeface="Montserrat"/>
              </a:rPr>
              <a:t>Оператор 112: вызов, опрос ИИ-заявителя, диктовка, карточки 104/101, оповещение служб</a:t>
            </a:r>
          </a:p>
          <a:p>
            <a:pPr algn="l" marL="237744" indent="-237744">
              <a:lnSpc>
                <a:spcPct val="110000"/>
              </a:lnSpc>
              <a:spcBef>
                <a:spcPts val="7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250" b="0" i="0">
                <a:solidFill>
                  <a:srgbClr val="1C1D22"/>
                </a:solidFill>
                <a:latin typeface="Montserrat"/>
              </a:rPr>
              <a:t>ДДС района и 03: полный цикл реагирования, связь с бригадой</a:t>
            </a:r>
          </a:p>
          <a:p>
            <a:pPr algn="l" marL="237744" indent="-237744">
              <a:lnSpc>
                <a:spcPct val="110000"/>
              </a:lnSpc>
              <a:spcBef>
                <a:spcPts val="7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250" b="0" i="0">
                <a:solidFill>
                  <a:srgbClr val="1C1D22"/>
                </a:solidFill>
                <a:latin typeface="Montserrat"/>
              </a:rPr>
              <a:t>Автооценка правилами и ИИ-судьёй, экспертные правки</a:t>
            </a:r>
          </a:p>
          <a:p>
            <a:pPr algn="l" marL="237744" indent="-237744">
              <a:lnSpc>
                <a:spcPct val="110000"/>
              </a:lnSpc>
              <a:spcBef>
                <a:spcPts val="7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250" b="0" i="0">
                <a:solidFill>
                  <a:srgbClr val="1C1D22"/>
                </a:solidFill>
                <a:latin typeface="Montserrat"/>
              </a:rPr>
              <a:t>Уровни сложности, настройка занятия, случайная выдача</a:t>
            </a:r>
          </a:p>
          <a:p>
            <a:pPr algn="l" marL="237744" indent="-237744">
              <a:lnSpc>
                <a:spcPct val="110000"/>
              </a:lnSpc>
              <a:spcBef>
                <a:spcPts val="7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250" b="0" i="0">
                <a:solidFill>
                  <a:srgbClr val="1C1D22"/>
                </a:solidFill>
                <a:latin typeface="Montserrat"/>
              </a:rPr>
              <a:t>Ознакомительный режим, редактор сценариев</a:t>
            </a:r>
          </a:p>
          <a:p>
            <a:pPr algn="l" marL="237744" indent="-237744">
              <a:lnSpc>
                <a:spcPct val="110000"/>
              </a:lnSpc>
              <a:spcBef>
                <a:spcPts val="700"/>
              </a:spcBef>
              <a:buClr>
                <a:srgbClr val="FF0053"/>
              </a:buClr>
              <a:buSzPct val="110000"/>
              <a:buFont typeface="Arial"/>
              <a:buChar char="•"/>
            </a:pPr>
            <a:r>
              <a:rPr sz="1250" b="0" i="0">
                <a:solidFill>
                  <a:srgbClr val="1C1D22"/>
                </a:solidFill>
                <a:latin typeface="Montserrat"/>
              </a:rPr>
              <a:t>Администрирование, бэкапы, аудит, офлайн-поставка</a:t>
            </a:r>
          </a:p>
        </p:txBody>
      </p:sp>
      <p:sp>
        <p:nvSpPr>
          <p:cNvPr id="224299947" name="TextBox 224299946"/>
          <p:cNvSpPr txBox="1"/>
          <p:nvPr/>
        </p:nvSpPr>
        <p:spPr>
          <a:xfrm>
            <a:off x="6355080" y="14630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Montserrat"/>
              </a:rPr>
              <a:t>Следующие шаги</a:t>
            </a:r>
          </a:p>
        </p:txBody>
      </p:sp>
      <p:sp>
        <p:nvSpPr>
          <p:cNvPr id="224299948" name="Rounded Rectangle 224299947"/>
          <p:cNvSpPr/>
          <p:nvPr/>
        </p:nvSpPr>
        <p:spPr>
          <a:xfrm>
            <a:off x="6355080" y="2103120"/>
            <a:ext cx="502920" cy="50292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49" name="TextBox 224299948"/>
          <p:cNvSpPr txBox="1"/>
          <p:nvPr/>
        </p:nvSpPr>
        <p:spPr>
          <a:xfrm>
            <a:off x="6355080" y="21031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24299950" name="TextBox 224299949"/>
          <p:cNvSpPr txBox="1"/>
          <p:nvPr/>
        </p:nvSpPr>
        <p:spPr>
          <a:xfrm>
            <a:off x="7040880" y="2075688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Голосовой звонок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D6E4"/>
                </a:solidFill>
                <a:latin typeface="Montserrat"/>
              </a:rPr>
              <a:t>озвучка заявителя и разговор голосом</a:t>
            </a:r>
          </a:p>
        </p:txBody>
      </p:sp>
      <p:sp>
        <p:nvSpPr>
          <p:cNvPr id="224299951" name="Rounded Rectangle 224299950"/>
          <p:cNvSpPr/>
          <p:nvPr/>
        </p:nvSpPr>
        <p:spPr>
          <a:xfrm>
            <a:off x="6355080" y="3127248"/>
            <a:ext cx="502920" cy="50292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2" name="TextBox 224299951"/>
          <p:cNvSpPr txBox="1"/>
          <p:nvPr/>
        </p:nvSpPr>
        <p:spPr>
          <a:xfrm>
            <a:off x="6355080" y="312724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24299953" name="TextBox 224299952"/>
          <p:cNvSpPr txBox="1"/>
          <p:nvPr/>
        </p:nvSpPr>
        <p:spPr>
          <a:xfrm>
            <a:off x="7040880" y="3099816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Связка 112 ↔ ДДС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D6E4"/>
                </a:solidFill>
                <a:latin typeface="Montserrat"/>
              </a:rPr>
              <a:t>передача карточки между курсантами</a:t>
            </a:r>
          </a:p>
        </p:txBody>
      </p:sp>
      <p:sp>
        <p:nvSpPr>
          <p:cNvPr id="224299954" name="Rounded Rectangle 224299953"/>
          <p:cNvSpPr/>
          <p:nvPr/>
        </p:nvSpPr>
        <p:spPr>
          <a:xfrm>
            <a:off x="6355080" y="4151376"/>
            <a:ext cx="502920" cy="50292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5" name="TextBox 224299954"/>
          <p:cNvSpPr txBox="1"/>
          <p:nvPr/>
        </p:nvSpPr>
        <p:spPr>
          <a:xfrm>
            <a:off x="6355080" y="415137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24299956" name="TextBox 224299955"/>
          <p:cNvSpPr txBox="1"/>
          <p:nvPr/>
        </p:nvSpPr>
        <p:spPr>
          <a:xfrm>
            <a:off x="7040880" y="4123944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Замер на сервере заказчика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D6E4"/>
                </a:solidFill>
                <a:latin typeface="Montserrat"/>
              </a:rPr>
              <a:t>подбор числа ИИ-диалогов под класс; GPU — по желанию</a:t>
            </a:r>
          </a:p>
        </p:txBody>
      </p:sp>
      <p:sp>
        <p:nvSpPr>
          <p:cNvPr id="224299957" name="Rounded Rectangle 224299956"/>
          <p:cNvSpPr/>
          <p:nvPr/>
        </p:nvSpPr>
        <p:spPr>
          <a:xfrm>
            <a:off x="6355080" y="5175504"/>
            <a:ext cx="502920" cy="50292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299958" name="TextBox 224299957"/>
          <p:cNvSpPr txBox="1"/>
          <p:nvPr/>
        </p:nvSpPr>
        <p:spPr>
          <a:xfrm>
            <a:off x="6355080" y="517550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24299959" name="TextBox 224299958"/>
          <p:cNvSpPr txBox="1"/>
          <p:nvPr/>
        </p:nvSpPr>
        <p:spPr>
          <a:xfrm>
            <a:off x="7040880" y="5148072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Контент и аналитика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FFD6E4"/>
                </a:solidFill>
                <a:latin typeface="Montserrat"/>
              </a:rPr>
              <a:t>классификатор заказчика, рекомендации уровня, графики прогресса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488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FFD6E4"/>
                </a:solidFill>
                <a:latin typeface="Montserrat"/>
              </a:rPr>
              <a:t>EMSIM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7132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Montserrat"/>
              </a:rPr>
              <a:t>Тренажёр, который готовит к смене, а не к экзамену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43484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D6E4"/>
                </a:solidFill>
                <a:latin typeface="Montserrat"/>
              </a:rPr>
              <a:t>Копия АРМ-112 · ИИ-заявитель и ИИ-судья на российской модели · полностью внутри учебного центра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486400"/>
            <a:ext cx="3017520" cy="566928"/>
          </a:xfrm>
          <a:prstGeom prst="roundRect">
            <a:avLst>
              <a:gd name="adj" fmla="val 2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548640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СПАСИБО!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2026-09-16T13:19:25Z</dcterms:modified>
</cp:coreProperties>
</file>